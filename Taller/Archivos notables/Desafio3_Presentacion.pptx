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Supermarket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FF"/>
                </a:solidFill>
              </a:rPr>
              <a:t>Análisis de Datos para Campañas de Marketing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17520"/>
            <a:ext cx="4572000" cy="45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Cliente: Cadena de Supermercados  |  3 Sucursales  |  3 Meses de datos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2286000" cy="1188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96512"/>
            <a:ext cx="2286000" cy="61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77156"/>
            <a:ext cx="2286000" cy="49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Transacciones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4023360"/>
            <a:ext cx="2286000" cy="1188720"/>
          </a:xfrm>
          <a:prstGeom prst="rect">
            <a:avLst/>
          </a:prstGeom>
          <a:solidFill>
            <a:srgbClr val="1A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4096512"/>
            <a:ext cx="2286000" cy="61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$322,967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677156"/>
            <a:ext cx="2286000" cy="49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Ventas Totales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4023360"/>
            <a:ext cx="228600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4096512"/>
            <a:ext cx="2286000" cy="61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$322.97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677156"/>
            <a:ext cx="2286000" cy="49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Ticket Promedio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Febrero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Contexto del 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¿Quién es el cliente y qué necesita?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Desafío 3  ·  Supermarket Sales Analysis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931920" cy="38404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¿QUIÉN?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7490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Cadena de supermercados con 3 sucursales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75688"/>
            <a:ext cx="37490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Sucursal A — Yangon:       340 transacciones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14016"/>
            <a:ext cx="37490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Sucursal B — Mandalay:   332 transacciones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52344"/>
            <a:ext cx="37490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Sucursal C — Naypyitaw:  328 transacciones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90672"/>
            <a:ext cx="37490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Horario: 10:00 a 21:00 hrs (12 hs diarias)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29000"/>
            <a:ext cx="37490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Pagos: Ewallet, Cash, Credit card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280160"/>
            <a:ext cx="411480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2801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¿QUÉ NECESITA?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7373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Realizar 3 campañas de Marketing mensuales para maximizar los ingresos por ventas.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423160"/>
            <a:ext cx="4114800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4231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Preguntas clave del cliente: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834640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¿Cómo compran Mujeres vs Hombres?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145536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¿Cómo se distribuyen las compras por hora?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456432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¿Cuáles son los ingresos por línea de producto?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767328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¿Ingresos por producto y género?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078224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¿Cómo son las ventas por sucursal?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389120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¿Compras por línea de productos?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Compras por Género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¿Cómo se comparan las compras de Mujeres vs Hombres?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Desafío 3  ·  Supermarket Sales Analysis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651760" cy="100584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265176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$167,883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33372"/>
            <a:ext cx="265176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Ventas Mujeres (52.0%)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280160"/>
            <a:ext cx="2651760" cy="10058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353312"/>
            <a:ext cx="265176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$155,084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833372"/>
            <a:ext cx="265176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Ventas Hombres (48.0%)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834640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353312"/>
            <a:ext cx="283464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501 / 499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33372"/>
            <a:ext cx="283464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Transacciones Mujeres / Hombres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23160"/>
            <a:ext cx="8412480" cy="56692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44144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56504"/>
                </a:solidFill>
              </a:rPr>
              <a:t>💡  Las mujeres generan el 52.0% de las ventas con ticket promedio $335.10 vs $310.79 de los hombres.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08960"/>
            <a:ext cx="8412480" cy="3246120"/>
          </a:xfrm>
          <a:prstGeom prst="rect">
            <a:avLst/>
          </a:prstGeom>
          <a:solidFill>
            <a:srgbClr val="ECF0F1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276FBF"/>
                </a:solidFill>
              </a:rPr>
              <a:t>[ Insertar gráfico de barras comparativo: Ventas totales y ticket promedio por Género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Distribución de Compras por Hora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¿En qué momentos del día se concentran las ventas?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Desafío 3  ·  Supermarket Sales Analysis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651760" cy="9144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$104,848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830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Mañana 10-13h  (32.5%)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280160"/>
            <a:ext cx="2651760" cy="9144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35331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$118,423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7830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Tarde 14-17h  (36.7%)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834640" cy="914400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353312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$99,696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78308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Noche 18-21h  (30.9%)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31720"/>
            <a:ext cx="8412480" cy="56692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3500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56504"/>
                </a:solidFill>
              </a:rPr>
              <a:t>💡  Hora pico: 15:00 hs con $37,058 en ventas  |  Distribución equilibrada entre los 3 períodos del día.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8412480" cy="3337560"/>
          </a:xfrm>
          <a:prstGeom prst="rect">
            <a:avLst/>
          </a:prstGeom>
          <a:solidFill>
            <a:srgbClr val="ECF0F1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276FBF"/>
                </a:solidFill>
              </a:rPr>
              <a:t>[ Insertar gráfico de líneas: Ventas por Hora del Día (10h a 21h)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Ingresos por Línea de Productos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¿Qué categorías generan más ingresos?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Desafío 3  ·  Supermarket Sales Analysis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411480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Food and beverages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830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Línea líder  $56,145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80160"/>
            <a:ext cx="411480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5331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Health and beauty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Menor  $49,194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8412480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500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Línea de Producto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500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Ventas Totales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50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% del 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43200"/>
            <a:ext cx="84124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7614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Food and beverages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761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$56,144.84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7614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17.4%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90672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Sports and travel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108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$55,122.83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17.1%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438144"/>
            <a:ext cx="84124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456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Electronic accessories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456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$54,337.53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4564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16.8%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85615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80390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Fashion accessories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0390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$54,305.89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80390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16.8%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133087"/>
            <a:ext cx="84124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15137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Home and lifestyle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15137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$53,861.91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5137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16.7%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480559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49884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Health and beauty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49884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$49,193.74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49884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15.2%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892040"/>
            <a:ext cx="8412480" cy="1463040"/>
          </a:xfrm>
          <a:prstGeom prst="rect">
            <a:avLst/>
          </a:prstGeom>
          <a:solidFill>
            <a:srgbClr val="ECF0F1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276FBF"/>
                </a:solidFill>
              </a:rPr>
              <a:t>[ Insertar gráfico de barras horizontales: Ingresos por Línea de Producto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Ingresos por Producto y Género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¿Qué compra cada género?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Desafío 3  ·  Supermarket Sales Analysis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8412480" cy="566928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5272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🎯  Mayor brecha: Health &amp; Beauty — Hombres 62.3% vs Mujeres 37.7%  (brecha 24.5%)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8412480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38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Línea de Producto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38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% Mujeres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38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% Hombres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938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Brecha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31720"/>
            <a:ext cx="8412480" cy="34747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50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Health and beauty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350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37.7%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350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62.3%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50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24.5%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79191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974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Food and beverages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6974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59.1%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6974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40.9%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69747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18.2%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26663"/>
            <a:ext cx="84124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4495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Fashion accessories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04495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56.0%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04495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44.0%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044951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12.1%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74135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39242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Home and lifestyle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339242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55.8%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39242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44.2%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392423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11.5%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21607"/>
            <a:ext cx="84124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3989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Sports and travel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37398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51.8%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37398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48.2%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739895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3.7%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69079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08736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Electronic accessories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408736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49.9%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408736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50.1%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08736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0.2%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846320"/>
            <a:ext cx="8412480" cy="1508760"/>
          </a:xfrm>
          <a:prstGeom prst="rect">
            <a:avLst/>
          </a:prstGeom>
          <a:solidFill>
            <a:srgbClr val="ECF0F1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276FBF"/>
                </a:solidFill>
              </a:rPr>
              <a:t>[ Insertar gráfico de barras apiladas: % por Género en cada Línea de Producto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Compras por Sucursal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¿Cómo se desempeña cada sucursal?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Desafío 3  ·  Supermarket Sales Analysis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743200" cy="12801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274320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$110,569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84248"/>
            <a:ext cx="274320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Suc. C · Naypyitaw
328 trans. · 34.2%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743200" cy="12801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53312"/>
            <a:ext cx="274320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$106,200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84248"/>
            <a:ext cx="274320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Suc. A · Yangon
340 trans. · 32.9%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743200" cy="1280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53312"/>
            <a:ext cx="274320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$106,198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84248"/>
            <a:ext cx="274320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Suc. B · Mandalay
332 trans. · 32.9%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43200"/>
            <a:ext cx="8412480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614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Ticket Promedio por Sucursal: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54680"/>
            <a:ext cx="2743200" cy="6400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729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Suc. C: $337.10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154680"/>
            <a:ext cx="2743200" cy="6400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1729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Suc. A: $312.35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154680"/>
            <a:ext cx="274320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1729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Suc. B: $319.87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8412480" cy="2423160"/>
          </a:xfrm>
          <a:prstGeom prst="rect">
            <a:avLst/>
          </a:prstGeom>
          <a:solidFill>
            <a:srgbClr val="ECF0F1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276FBF"/>
                </a:solidFill>
              </a:rPr>
              <a:t>[ Insertar gráfico de barras agrupadas: Ventas y Transacciones por Sucursal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Compras por Línea de Productos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¿Qué categorías tienen más transacciones?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Desafío 3  ·  Supermarket Sales Analysis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411480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Fashion accessories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830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Más transacciones: 178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80160"/>
            <a:ext cx="411480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5331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Health and beauty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Menos transacciones: 152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8412480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500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50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Línea de Producto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50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Transacciones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50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Ticket Promedio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43200"/>
            <a:ext cx="8412480" cy="347472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614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761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Fashion accessories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761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614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$305.09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90672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108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Food and beverages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$322.67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438144"/>
            <a:ext cx="84124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4564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456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Electronic accessories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456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4564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$319.63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785615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803903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80390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Sports and travel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80390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80390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$332.07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133087"/>
            <a:ext cx="84124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151375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15137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Home and lifestyle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415137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151375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$336.64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480559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49884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449884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Health and beauty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49884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152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49884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$323.64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892040"/>
            <a:ext cx="8412480" cy="1463040"/>
          </a:xfrm>
          <a:prstGeom prst="rect">
            <a:avLst/>
          </a:prstGeom>
          <a:solidFill>
            <a:srgbClr val="ECF0F1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276FBF"/>
                </a:solidFill>
              </a:rPr>
              <a:t>[ Insertar gráfico de barras horizontales: Transacciones por Línea de Producto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 Oportunidades para Aumentar las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Insights clave para las 3 campañas de marketing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Desafío 3  ·  Supermarket Sales Analysis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34440"/>
            <a:ext cx="850392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5272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OPORTUNIDAD 1 — Desequilibrio de Género en Productos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618488"/>
            <a:ext cx="8503920" cy="8229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36776"/>
            <a:ext cx="8229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Health &amp; Beauty: Hombres 62.3% vs Mujeres 37.7% (brecha 24.5%)  |  Food &amp; Beverages: Mujeres 59.1% vs Hombres 40.9% (brecha 18.2%)
→ El género minoritario en cada producto está subrepresentado. Campaña: atraer al género minoritario con comunicación y promociones dirigidas.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560320"/>
            <a:ext cx="8503920" cy="38404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57860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OPORTUNIDAD 2 — Diferencia Member vs Clientes Normal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944368"/>
            <a:ext cx="850392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962656"/>
            <a:ext cx="8229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Members: ticket promedio $327.79  |  Normal: $318.12  |  Diferencia: $9.67 más por transacción  |  499 clientes Normal activos
→ En Health &amp; Beauty los Members gastan 19.7% más que Normal. Campaña: programa de fidelización para convertir clientes Normal a Member.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886200"/>
            <a:ext cx="8503920" cy="384048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904487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OPORTUNIDAD 3 — Horarios con Baja Densidad de Ventas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4270248"/>
            <a:ext cx="8503920" cy="822960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288536"/>
            <a:ext cx="8229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Promedio por hora: $26,914  |  10:00h: $13,245 (51 trans.)  |  21:00h: $12,638 (38 trans.)
→ Las horas de apertura y cierre están por debajo del promedio. Campaña: promociones especiales en horarios de apertura y cierre.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5212080"/>
            <a:ext cx="8503920" cy="5029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52303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💡  Estas 3 oportunidades están basadas en patrones reales del comportamiento actual de los clientes.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4572000" cy="45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✓  La distribución de ventas es equilibrada entre géneros, sucursales y horarios.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4203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✓  Existen brechas de género claras en productos específicos (Health &amp; Beauty, Food).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8094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✓  Los clientes Member generan mayor ticket promedio que los Normal.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1985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✓  Los horarios de apertura (10h) y cierre (21h) tienen potencial de crecimiento.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587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✓  Food &amp; Beverages lidera en ingresos; Fashion Accessories en transacciones.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76FBF"/>
                </a:solidFill>
              </a:rPr>
              <a:t>¿Preguntas?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Desafío 3  ·  Supermarket Sales Analysis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