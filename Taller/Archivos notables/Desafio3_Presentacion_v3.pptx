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drawings/drawing1.xml" ContentType="application/vnd.openxmlformats-officedocument.drawingml.chartshapes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 snapToObjects="1">
      <p:cViewPr varScale="1">
        <p:scale>
          <a:sx n="95" d="100"/>
          <a:sy n="95" d="100"/>
        </p:scale>
        <p:origin x="200" y="8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chartUserShapes" Target="../drawings/drawing1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javierfernandez/Desktop/tallerStoryteling/Taller/Archivos%20notables/Supermarket%20Sales%20Dataset%20v1.0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v1.0.xlsx]1!TablaDinámica1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8.3012428324508211E-2"/>
          <c:y val="5.0632911392405063E-2"/>
          <c:w val="0.73570358583225881"/>
          <c:h val="0.8389350144523073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'1'!$B$4:$B$5</c:f>
              <c:strCache>
                <c:ptCount val="1"/>
                <c:pt idx="0">
                  <c:v>Electronic accessories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'1'!$B$6:$B$8</c:f>
              <c:numCache>
                <c:formatCode>General</c:formatCode>
                <c:ptCount val="2"/>
                <c:pt idx="0">
                  <c:v>27102.022499999999</c:v>
                </c:pt>
                <c:pt idx="1">
                  <c:v>27235.508999999998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C5-0E45-B928-7D44DF8426CC}"/>
            </c:ext>
          </c:extLst>
        </c:ser>
        <c:ser>
          <c:idx val="1"/>
          <c:order val="1"/>
          <c:tx>
            <c:strRef>
              <c:f>'1'!$C$4:$C$5</c:f>
              <c:strCache>
                <c:ptCount val="1"/>
                <c:pt idx="0">
                  <c:v>Fashion accessories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'1'!$C$6:$C$8</c:f>
              <c:numCache>
                <c:formatCode>General</c:formatCode>
                <c:ptCount val="2"/>
                <c:pt idx="0">
                  <c:v>30437.400000000009</c:v>
                </c:pt>
                <c:pt idx="1">
                  <c:v>23868.494999999999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C5-0E45-B928-7D44DF8426CC}"/>
            </c:ext>
          </c:extLst>
        </c:ser>
        <c:ser>
          <c:idx val="2"/>
          <c:order val="2"/>
          <c:tx>
            <c:strRef>
              <c:f>'1'!$D$4:$D$5</c:f>
              <c:strCache>
                <c:ptCount val="1"/>
                <c:pt idx="0">
                  <c:v>Food and beverages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'1'!$D$6:$D$8</c:f>
              <c:numCache>
                <c:formatCode>General</c:formatCode>
                <c:ptCount val="2"/>
                <c:pt idx="0">
                  <c:v>33170.917499999996</c:v>
                </c:pt>
                <c:pt idx="1">
                  <c:v>22973.92649999999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EC5-0E45-B928-7D44DF8426CC}"/>
            </c:ext>
          </c:extLst>
        </c:ser>
        <c:ser>
          <c:idx val="3"/>
          <c:order val="3"/>
          <c:tx>
            <c:strRef>
              <c:f>'1'!$E$4:$E$5</c:f>
              <c:strCache>
                <c:ptCount val="1"/>
                <c:pt idx="0">
                  <c:v>Health and beauty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'1'!$E$6:$E$8</c:f>
              <c:numCache>
                <c:formatCode>General</c:formatCode>
                <c:ptCount val="2"/>
                <c:pt idx="0">
                  <c:v>18560.986499999995</c:v>
                </c:pt>
                <c:pt idx="1">
                  <c:v>30632.752499999995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EC5-0E45-B928-7D44DF8426CC}"/>
            </c:ext>
          </c:extLst>
        </c:ser>
        <c:ser>
          <c:idx val="4"/>
          <c:order val="4"/>
          <c:tx>
            <c:strRef>
              <c:f>'1'!$F$4:$F$5</c:f>
              <c:strCache>
                <c:ptCount val="1"/>
                <c:pt idx="0">
                  <c:v>Home and lifestyle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'1'!$F$6:$F$8</c:f>
              <c:numCache>
                <c:formatCode>General</c:formatCode>
                <c:ptCount val="2"/>
                <c:pt idx="0">
                  <c:v>30036.877500000006</c:v>
                </c:pt>
                <c:pt idx="1">
                  <c:v>23825.035499999998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EC5-0E45-B928-7D44DF8426CC}"/>
            </c:ext>
          </c:extLst>
        </c:ser>
        <c:ser>
          <c:idx val="5"/>
          <c:order val="5"/>
          <c:tx>
            <c:strRef>
              <c:f>'1'!$G$4:$G$5</c:f>
              <c:strCache>
                <c:ptCount val="1"/>
                <c:pt idx="0">
                  <c:v>Sports and travel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'1'!$A$6:$A$8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'1'!$G$6:$G$8</c:f>
              <c:numCache>
                <c:formatCode>General</c:formatCode>
                <c:ptCount val="2"/>
                <c:pt idx="0">
                  <c:v>28574.72099999999</c:v>
                </c:pt>
                <c:pt idx="1">
                  <c:v>26548.105500000001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EC5-0E45-B928-7D44DF8426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417411327"/>
        <c:axId val="417413119"/>
      </c:barChart>
      <c:catAx>
        <c:axId val="41741132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3119"/>
        <c:crosses val="autoZero"/>
        <c:auto val="1"/>
        <c:lblAlgn val="ctr"/>
        <c:lblOffset val="100"/>
        <c:noMultiLvlLbl val="0"/>
      </c:catAx>
      <c:valAx>
        <c:axId val="417413119"/>
        <c:scaling>
          <c:orientation val="minMax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4174113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_tradnl"/>
              <a:t>Total de ventas en $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'2.1'!$A$3:$A$13</c:f>
              <c:numCache>
                <c:formatCode>[$-F400]h:mm:ss\ AM/PM</c:formatCode>
                <c:ptCount val="11"/>
                <c:pt idx="0">
                  <c:v>0.41666666666666669</c:v>
                </c:pt>
                <c:pt idx="1">
                  <c:v>0.45833333333333331</c:v>
                </c:pt>
                <c:pt idx="2">
                  <c:v>0.5</c:v>
                </c:pt>
                <c:pt idx="3">
                  <c:v>0.54166666666666663</c:v>
                </c:pt>
                <c:pt idx="4">
                  <c:v>0.58333333333333337</c:v>
                </c:pt>
                <c:pt idx="5">
                  <c:v>0.625</c:v>
                </c:pt>
                <c:pt idx="6">
                  <c:v>0.66666666666666663</c:v>
                </c:pt>
                <c:pt idx="7">
                  <c:v>0.70833333333333337</c:v>
                </c:pt>
                <c:pt idx="8">
                  <c:v>0.75</c:v>
                </c:pt>
                <c:pt idx="9">
                  <c:v>0.79166666666666663</c:v>
                </c:pt>
                <c:pt idx="10">
                  <c:v>0.83333333333333337</c:v>
                </c:pt>
              </c:numCache>
            </c:numRef>
          </c:cat>
          <c:val>
            <c:numRef>
              <c:f>'2.1'!$B$3:$B$13</c:f>
              <c:numCache>
                <c:formatCode>0</c:formatCode>
                <c:ptCount val="11"/>
                <c:pt idx="0">
                  <c:v>31421</c:v>
                </c:pt>
                <c:pt idx="1">
                  <c:v>30377</c:v>
                </c:pt>
                <c:pt idx="2">
                  <c:v>26066</c:v>
                </c:pt>
                <c:pt idx="3">
                  <c:v>34723</c:v>
                </c:pt>
                <c:pt idx="4">
                  <c:v>30828</c:v>
                </c:pt>
                <c:pt idx="5">
                  <c:v>31180</c:v>
                </c:pt>
                <c:pt idx="6">
                  <c:v>25226</c:v>
                </c:pt>
                <c:pt idx="7">
                  <c:v>24445</c:v>
                </c:pt>
                <c:pt idx="8">
                  <c:v>26030</c:v>
                </c:pt>
                <c:pt idx="9">
                  <c:v>39700</c:v>
                </c:pt>
                <c:pt idx="10">
                  <c:v>22970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816-0641-9E85-8BB4CAB6E0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31211328"/>
        <c:axId val="2052093056"/>
      </c:lineChart>
      <c:catAx>
        <c:axId val="2031211328"/>
        <c:scaling>
          <c:orientation val="minMax"/>
        </c:scaling>
        <c:delete val="0"/>
        <c:axPos val="b"/>
        <c:numFmt formatCode="[$-F400]h:mm:ss\ AM/PM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52093056"/>
        <c:crosses val="autoZero"/>
        <c:auto val="1"/>
        <c:lblAlgn val="ctr"/>
        <c:lblOffset val="100"/>
        <c:noMultiLvlLbl val="0"/>
      </c:catAx>
      <c:valAx>
        <c:axId val="2052093056"/>
        <c:scaling>
          <c:orientation val="minMax"/>
        </c:scaling>
        <c:delete val="0"/>
        <c:axPos val="l"/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312113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v1.0.xlsx]Hoja2!TablaDinámica2</c:name>
    <c:fmtId val="3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582387070037297"/>
          <c:y val="0.15602836879432624"/>
          <c:w val="0.68573449371460149"/>
          <c:h val="0.778160942648126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Hoja2!$B$3:$B$4</c:f>
              <c:strCache>
                <c:ptCount val="1"/>
                <c:pt idx="0">
                  <c:v>Mandalay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Hoja2!$B$5:$B$11</c:f>
              <c:numCache>
                <c:formatCode>General</c:formatCode>
                <c:ptCount val="6"/>
                <c:pt idx="0">
                  <c:v>17051.443499999998</c:v>
                </c:pt>
                <c:pt idx="1">
                  <c:v>16413.316499999997</c:v>
                </c:pt>
                <c:pt idx="2">
                  <c:v>15214.888500000001</c:v>
                </c:pt>
                <c:pt idx="3">
                  <c:v>19980.659999999996</c:v>
                </c:pt>
                <c:pt idx="4">
                  <c:v>17549.164499999999</c:v>
                </c:pt>
                <c:pt idx="5">
                  <c:v>19988.198999999997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A2-864F-89E3-8222238B1753}"/>
            </c:ext>
          </c:extLst>
        </c:ser>
        <c:ser>
          <c:idx val="1"/>
          <c:order val="1"/>
          <c:tx>
            <c:strRef>
              <c:f>Hoja2!$C$3:$C$4</c:f>
              <c:strCache>
                <c:ptCount val="1"/>
                <c:pt idx="0">
                  <c:v>Naypyitaw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Hoja2!$C$5:$C$11</c:f>
              <c:numCache>
                <c:formatCode>General</c:formatCode>
                <c:ptCount val="6"/>
                <c:pt idx="0">
                  <c:v>18968.9745</c:v>
                </c:pt>
                <c:pt idx="1">
                  <c:v>21560.069999999996</c:v>
                </c:pt>
                <c:pt idx="2">
                  <c:v>23766.854999999992</c:v>
                </c:pt>
                <c:pt idx="3">
                  <c:v>16615.326000000001</c:v>
                </c:pt>
                <c:pt idx="4">
                  <c:v>13895.553</c:v>
                </c:pt>
                <c:pt idx="5">
                  <c:v>15761.928000000002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4A2-864F-89E3-8222238B1753}"/>
            </c:ext>
          </c:extLst>
        </c:ser>
        <c:ser>
          <c:idx val="2"/>
          <c:order val="2"/>
          <c:tx>
            <c:strRef>
              <c:f>Hoja2!$D$3:$D$4</c:f>
              <c:strCache>
                <c:ptCount val="1"/>
                <c:pt idx="0">
                  <c:v>Yangon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Hoja2!$A$5:$A$11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Hoja2!$D$5:$D$11</c:f>
              <c:numCache>
                <c:formatCode>General</c:formatCode>
                <c:ptCount val="6"/>
                <c:pt idx="0">
                  <c:v>18317.113500000003</c:v>
                </c:pt>
                <c:pt idx="1">
                  <c:v>16332.508499999996</c:v>
                </c:pt>
                <c:pt idx="2">
                  <c:v>17163.1005</c:v>
                </c:pt>
                <c:pt idx="3">
                  <c:v>12597.752999999995</c:v>
                </c:pt>
                <c:pt idx="4">
                  <c:v>22417.195499999998</c:v>
                </c:pt>
                <c:pt idx="5">
                  <c:v>19372.699500000002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4A2-864F-89E3-8222238B17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076058367"/>
        <c:axId val="2076051199"/>
      </c:barChart>
      <c:catAx>
        <c:axId val="20760583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1199"/>
        <c:crosses val="autoZero"/>
        <c:auto val="1"/>
        <c:lblAlgn val="ctr"/>
        <c:lblOffset val="100"/>
        <c:noMultiLvlLbl val="0"/>
      </c:catAx>
      <c:valAx>
        <c:axId val="207605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2076058367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r"/>
      <c:layout>
        <c:manualLayout>
          <c:xMode val="edge"/>
          <c:yMode val="edge"/>
          <c:x val="0.80050573283602711"/>
          <c:y val="0.40549595130395932"/>
          <c:w val="9.5985495234148357E-2"/>
          <c:h val="0.143618026470095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v1.0.xlsx]4!TablaDinámica2</c:name>
    <c:fmtId val="6"/>
  </c:pivotSource>
  <c:chart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9.8075474679377453E-2"/>
          <c:y val="7.914826498422714E-2"/>
          <c:w val="0.84856885155241879"/>
          <c:h val="0.75714026677264712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'4'!$B$1:$B$2</c:f>
              <c:strCache>
                <c:ptCount val="1"/>
                <c:pt idx="0">
                  <c:v>Female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'4'!$B$3:$B$9</c:f>
              <c:numCache>
                <c:formatCode>General</c:formatCode>
                <c:ptCount val="6"/>
                <c:pt idx="0">
                  <c:v>61040.741848872705</c:v>
                </c:pt>
                <c:pt idx="1">
                  <c:v>53795.60444778933</c:v>
                </c:pt>
                <c:pt idx="2">
                  <c:v>73564.155417905946</c:v>
                </c:pt>
                <c:pt idx="3">
                  <c:v>46333.560671972715</c:v>
                </c:pt>
                <c:pt idx="4">
                  <c:v>73050.587042320083</c:v>
                </c:pt>
                <c:pt idx="5">
                  <c:v>60859.104218321736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E6-3247-98A6-F1FC545AE0AD}"/>
            </c:ext>
          </c:extLst>
        </c:ser>
        <c:ser>
          <c:idx val="1"/>
          <c:order val="1"/>
          <c:tx>
            <c:strRef>
              <c:f>'4'!$C$1:$C$2</c:f>
              <c:strCache>
                <c:ptCount val="1"/>
                <c:pt idx="0">
                  <c:v>Male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'4'!$A$3:$A$9</c:f>
              <c:strCache>
                <c:ptCount val="6"/>
                <c:pt idx="0">
                  <c:v>Electronic accessories</c:v>
                </c:pt>
                <c:pt idx="1">
                  <c:v>Fashion accessories</c:v>
                </c:pt>
                <c:pt idx="2">
                  <c:v>Food and beverages</c:v>
                </c:pt>
                <c:pt idx="3">
                  <c:v>Health and beauty</c:v>
                </c:pt>
                <c:pt idx="4">
                  <c:v>Home and lifestyle</c:v>
                </c:pt>
                <c:pt idx="5">
                  <c:v>Sports and travel</c:v>
                </c:pt>
              </c:strCache>
            </c:strRef>
          </c:cat>
          <c:val>
            <c:numRef>
              <c:f>'4'!$C$3:$C$9</c:f>
              <c:numCache>
                <c:formatCode>General</c:formatCode>
                <c:ptCount val="6"/>
                <c:pt idx="0">
                  <c:v>60644.669259598784</c:v>
                </c:pt>
                <c:pt idx="1">
                  <c:v>66170.757180746601</c:v>
                </c:pt>
                <c:pt idx="2">
                  <c:v>43712.829019077595</c:v>
                </c:pt>
                <c:pt idx="3">
                  <c:v>62943.759867070199</c:v>
                </c:pt>
                <c:pt idx="4">
                  <c:v>53904.33227766319</c:v>
                </c:pt>
                <c:pt idx="5">
                  <c:v>63299.139053200211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E6-3247-98A6-F1FC545AE0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100"/>
        <c:axId val="370959999"/>
        <c:axId val="371231807"/>
      </c:barChart>
      <c:catAx>
        <c:axId val="3709599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31807"/>
        <c:crosses val="autoZero"/>
        <c:auto val="1"/>
        <c:lblAlgn val="ctr"/>
        <c:lblOffset val="100"/>
        <c:noMultiLvlLbl val="0"/>
      </c:catAx>
      <c:valAx>
        <c:axId val="371231807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09599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UY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[Supermarket Sales Dataset v1.0.xlsx]5!TablaDinámica5</c:name>
    <c:fmtId val="4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UY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'5'!$B$3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'5'!$A$4:$A$7</c:f>
              <c:strCache>
                <c:ptCount val="3"/>
                <c:pt idx="0">
                  <c:v>Mandalay</c:v>
                </c:pt>
                <c:pt idx="1">
                  <c:v>Naypyitaw</c:v>
                </c:pt>
                <c:pt idx="2">
                  <c:v>Yangon</c:v>
                </c:pt>
              </c:strCache>
            </c:strRef>
          </c:cat>
          <c:val>
            <c:numRef>
              <c:f>'5'!$B$4:$B$7</c:f>
              <c:numCache>
                <c:formatCode>General</c:formatCode>
                <c:ptCount val="3"/>
                <c:pt idx="0">
                  <c:v>106197.67199999996</c:v>
                </c:pt>
                <c:pt idx="1">
                  <c:v>110568.70649999994</c:v>
                </c:pt>
                <c:pt idx="2">
                  <c:v>106200.37050000011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49-E140-92EE-38C7665914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371216319"/>
        <c:axId val="371217215"/>
      </c:barChart>
      <c:catAx>
        <c:axId val="37121631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7215"/>
        <c:crosses val="autoZero"/>
        <c:auto val="1"/>
        <c:lblAlgn val="ctr"/>
        <c:lblOffset val="100"/>
        <c:noMultiLvlLbl val="0"/>
      </c:catAx>
      <c:valAx>
        <c:axId val="371217215"/>
        <c:scaling>
          <c:orientation val="minMax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UY"/>
          </a:p>
        </c:txPr>
        <c:crossAx val="371216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UY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0.33333</cdr:x>
      <cdr:y>0.03121</cdr:y>
    </cdr:from>
    <cdr:to>
      <cdr:x>0.75263</cdr:x>
      <cdr:y>0.11631</cdr:y>
    </cdr:to>
    <cdr:sp macro="" textlink="">
      <cdr:nvSpPr>
        <cdr:cNvPr id="2" name="CuadroTexto 1">
          <a:extLst xmlns:a="http://schemas.openxmlformats.org/drawingml/2006/main">
            <a:ext uri="{FF2B5EF4-FFF2-40B4-BE49-F238E27FC236}">
              <a16:creationId xmlns:a16="http://schemas.microsoft.com/office/drawing/2014/main" id="{A015688C-CF2A-34E0-07BF-EC5D1C7C4CD2}"/>
            </a:ext>
          </a:extLst>
        </cdr:cNvPr>
        <cdr:cNvSpPr txBox="1"/>
      </cdr:nvSpPr>
      <cdr:spPr>
        <a:xfrm xmlns:a="http://schemas.openxmlformats.org/drawingml/2006/main">
          <a:off x="2413000" y="139700"/>
          <a:ext cx="3035300" cy="381000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Overflow="clip" wrap="square" rtlCol="0"/>
        <a:lstStyle xmlns:a="http://schemas.openxmlformats.org/drawingml/2006/main"/>
        <a:p xmlns:a="http://schemas.openxmlformats.org/drawingml/2006/main">
          <a:r>
            <a:rPr lang="es-ES_tradnl" sz="2000" kern="1200"/>
            <a:t>Ingresos por ciudad</a:t>
          </a:r>
        </a:p>
      </cdr:txBody>
    </cdr:sp>
  </cdr:relSizeAnchor>
</c:userShap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26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MYANMAR ·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Supermarket</a:t>
            </a:r>
            <a:br/>
            <a:r>
              <a:t>Sales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AAC8AF"/>
                </a:solidFill>
                <a:latin typeface="Calibri"/>
              </a:defRPr>
            </a:pPr>
            <a:r>
              <a:t>Análisis de datos para 3 campañas de marketing mensuales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34840"/>
            <a:ext cx="3840480" cy="5029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t>Cliente: Cadena de Supermercados  |  3 sucursales  |  Enero – Marzo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3852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Transacciones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0" y="272491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$322.9K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930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Ventas totales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20624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427939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0474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Ticket promedio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Contexto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Tres ciudades, tres perfiles de consumidor en Myanmar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" cy="47548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E3C3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Yangon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comercial y económica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5.9M hab.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340 transacciones · Ticket prom: $312 · Rating 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cosmopolita. Mayor volumen pero ticket más bajo. El consumidor es el más diverso y competido.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3400" y="1508760"/>
            <a:ext cx="256032" cy="475488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908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48C6E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Mandalay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Centro cultural del norte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1.6M hab.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08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908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332 transacciones · Ticket prom: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Hub religioso y cultural. Lidera en Health &amp; Beauty y Sports &amp; Travel. Menor satisfacción del cliente.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256032" cy="475488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770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B25A37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Naypyitaw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política y gubernamental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815K hab.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770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328 transacciones · Ticket prom: $337 · Rating 7.1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chica, el ticket más alto. Los funcionarios de gobierno tienen ingresos estables y compran más por visita.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Comportamiento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comparan las compras de mujeres vs hombres?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477520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47752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B25A37"/>
                </a:solidFill>
                <a:latin typeface="Calibri"/>
              </a:defRPr>
            </a:pPr>
            <a:r>
              <a:t>$335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Mujeres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501 transacciones · $167.8K totales · 52% de las ventas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44752"/>
            <a:ext cx="4937760" cy="1728216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44752"/>
            <a:ext cx="4937760" cy="45719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648C6E"/>
                </a:solidFill>
                <a:latin typeface="Calibri"/>
              </a:defRPr>
            </a:pPr>
            <a:r>
              <a:t>$311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Hombres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499 transacciones · $155.1K totales · 48% de las ventas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11064240" cy="65836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73480" y="3602736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rPr dirty="0"/>
              <a:t>Insight: En Health &amp; Beauty, </a:t>
            </a:r>
            <a:r>
              <a:rPr dirty="0" err="1"/>
              <a:t>los</a:t>
            </a:r>
            <a:r>
              <a:rPr dirty="0"/>
              <a:t> hombres </a:t>
            </a:r>
            <a:r>
              <a:rPr dirty="0" err="1"/>
              <a:t>gastan</a:t>
            </a:r>
            <a:r>
              <a:rPr dirty="0"/>
              <a:t> un 65%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las </a:t>
            </a:r>
            <a:r>
              <a:rPr dirty="0" err="1"/>
              <a:t>mujeres</a:t>
            </a:r>
            <a:r>
              <a:rPr dirty="0"/>
              <a:t> — la mayor </a:t>
            </a:r>
            <a:r>
              <a:rPr dirty="0" err="1"/>
              <a:t>brecha</a:t>
            </a:r>
            <a:r>
              <a:rPr dirty="0"/>
              <a:t> de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el</a:t>
            </a:r>
            <a:r>
              <a:rPr dirty="0"/>
              <a:t> dataset.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61104"/>
            <a:ext cx="11064240" cy="2002536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19" name="Gráfico 18">
            <a:extLst>
              <a:ext uri="{FF2B5EF4-FFF2-40B4-BE49-F238E27FC236}">
                <a16:creationId xmlns:a16="http://schemas.microsoft.com/office/drawing/2014/main" id="{4CFB5E2D-E3B2-BF8D-09B4-26FC330596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22206501"/>
              </p:ext>
            </p:extLst>
          </p:nvPr>
        </p:nvGraphicFramePr>
        <p:xfrm>
          <a:off x="777240" y="4379976"/>
          <a:ext cx="10515601" cy="18087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El Ritmo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¿En qué momentos se concentran las ventas?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713232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863840" y="1444752"/>
            <a:ext cx="3749039" cy="48006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863840" y="1444752"/>
            <a:ext cx="3749039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92440" y="15727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DOS PICOS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93392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Calibri"/>
              </a:defRPr>
            </a:pPr>
            <a:r>
              <a:t>13:00 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514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$34.7K · 103 transacciones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971800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31089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25A37"/>
                </a:solidFill>
                <a:latin typeface="Calibri"/>
              </a:defRPr>
            </a:pPr>
            <a:r>
              <a:t>19:00 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6301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$39.7K · 113 transacciones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96512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ED7C0"/>
                </a:solidFill>
                <a:latin typeface="Calibri"/>
              </a:defRPr>
            </a:pPr>
            <a:r>
              <a:t>Valle: 16h, 17h y 20h están por debajo del promedio. Oportunidad para generar tráfico con ofertas.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1" name="Gráfico 20">
            <a:extLst>
              <a:ext uri="{FF2B5EF4-FFF2-40B4-BE49-F238E27FC236}">
                <a16:creationId xmlns:a16="http://schemas.microsoft.com/office/drawing/2014/main" id="{CCDEDE4C-FCB6-E82B-83EF-D4AA2CAE14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1778801"/>
              </p:ext>
            </p:extLst>
          </p:nvPr>
        </p:nvGraphicFramePr>
        <p:xfrm>
          <a:off x="617220" y="1834769"/>
          <a:ext cx="7132320" cy="38285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Desempeño del Portafolio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categorías generan más ingresos?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676656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498079" y="1444752"/>
            <a:ext cx="4114800" cy="48006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0" y="15727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RANKING DE INGRESOS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26679" y="203911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391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3911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$56.1K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24328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697480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974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Sports &amp;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97480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$55.1K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282696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355848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35584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355848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941064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79" y="4014216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01421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01421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4599431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6679" y="4672583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4672583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Home &amp; Lifestyle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72583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$53.9K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525780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26679" y="533095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53309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33095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$49.1K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AE74936-928D-0D9F-7ECC-62D1BEA320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64857689"/>
              </p:ext>
            </p:extLst>
          </p:nvPr>
        </p:nvGraphicFramePr>
        <p:xfrm>
          <a:off x="617219" y="1491548"/>
          <a:ext cx="7239000" cy="4476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Productos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compra cada género por categoría?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11064240" cy="283464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54864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4462272"/>
            <a:ext cx="260604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62.3%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37.7%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59.1%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40.9%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52560" y="4462272"/>
            <a:ext cx="2606040" cy="54864"/>
          </a:xfrm>
          <a:prstGeom prst="rect">
            <a:avLst/>
          </a:prstGeom>
          <a:solidFill>
            <a:srgbClr val="828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Casi igualado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50% /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12880" y="4462272"/>
            <a:ext cx="548640" cy="17830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9" name="Gráfico 28">
            <a:extLst>
              <a:ext uri="{FF2B5EF4-FFF2-40B4-BE49-F238E27FC236}">
                <a16:creationId xmlns:a16="http://schemas.microsoft.com/office/drawing/2014/main" id="{F45C9569-2238-09E3-BDD6-2072435EFA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0563449"/>
              </p:ext>
            </p:extLst>
          </p:nvPr>
        </p:nvGraphicFramePr>
        <p:xfrm>
          <a:off x="201706" y="1536192"/>
          <a:ext cx="11220041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Performance por Sucursal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desempeña cada sucursal?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6400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A · Yangon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1E3C30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340 transacciones · ticket $312 · rating 7.0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Mayor volumen, menor ticket. Lidera en Home &amp; Lifestyle.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417320"/>
            <a:ext cx="3657600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C · Naypyitaw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B25A37"/>
                </a:solidFill>
                <a:latin typeface="Calibri"/>
              </a:defRPr>
            </a:pPr>
            <a:r>
              <a:t>$110.6K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328 transacciones · ticket $337 · rating 7.1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Menor volumen pero mayor ticket y mejor satisfacción.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21040" y="1417320"/>
            <a:ext cx="3657600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19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B · Mandalay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648C6E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332 transacciones · ticket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Lidera en Health &amp; Beauty. Rating más bajo: oportunidad de mejora.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64240" cy="201168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  <p:graphicFrame>
        <p:nvGraphicFramePr>
          <p:cNvPr id="25" name="Gráfico 24">
            <a:extLst>
              <a:ext uri="{FF2B5EF4-FFF2-40B4-BE49-F238E27FC236}">
                <a16:creationId xmlns:a16="http://schemas.microsoft.com/office/drawing/2014/main" id="{F21D9F83-00AA-76CD-4D76-10838FDE0F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9632787"/>
              </p:ext>
            </p:extLst>
          </p:nvPr>
        </p:nvGraphicFramePr>
        <p:xfrm>
          <a:off x="1178112" y="4288536"/>
          <a:ext cx="9530976" cy="1947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Propuesta de Campañas de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Una acción concreta por mes, fundamentada en los datos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3657600" cy="9144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1 · ENERO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Mujeres — Naypyitaw y Yangon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Degustaciones y combos familiares en los picos de 13h y 19h.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Enero es el mejor mes ($116K). Mujeres dominan esta categoría (+44%). Naypyitaw lidera el 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43400" y="1444752"/>
            <a:ext cx="3657600" cy="91440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2000" dirty="0"/>
              <a:t>MES 2 · FEBRERO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Hombres — Mandalay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Comunicación y promociones pensadas exclusivamente para hombres.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Febrero es el mes más bajo ($97K). La brecha masculina en H&amp;B es la mayor del dataset: 65%.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1444752"/>
            <a:ext cx="3657600" cy="91440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508760"/>
            <a:ext cx="33832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93223"/>
                </a:solidFill>
                <a:latin typeface="Calibri"/>
              </a:defRPr>
            </a:pPr>
            <a:r>
              <a:rPr sz="2000" dirty="0"/>
              <a:t>MES 3 · MARZO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Home &amp; Lifestyle + Sports &amp; Travel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Público general — Yangon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Combos cruzados hogar + deporte. Aprovechar el ticket alto de Yangon en estas líneas.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Marzo antecede al Año Nuevo birmano (abril): las familias renuevan el hogar.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LO QUE NOS DICE LA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41148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La distribución entre géneros, sucursales y horarios es equilibrada — pero con brechas muy accionables.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17296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Health &amp; Beauty: los hombres gastan 65% más que las mujeres. El mayor insight del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14215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392277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Los picos de 13h y 19h deben ser el eje de cualquier activación en sucursal.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64023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Naypyitaw factura más con menos transacciones: prioridad para campañas de ticket alto.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13831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54223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Febrero es el mes más débil. Una campaña focalizada (Health &amp; Beauty / hombres) puede revertirlo.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4876C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816</Words>
  <Application>Microsoft Macintosh PowerPoint</Application>
  <PresentationFormat>Panorámica</PresentationFormat>
  <Paragraphs>142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Fernandez - INCO Soluciones</cp:lastModifiedBy>
  <cp:revision>5</cp:revision>
  <dcterms:created xsi:type="dcterms:W3CDTF">2013-01-27T09:14:16Z</dcterms:created>
  <dcterms:modified xsi:type="dcterms:W3CDTF">2026-02-23T22:34:31Z</dcterms:modified>
  <cp:category/>
</cp:coreProperties>
</file>