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0" y="0"/>
            <a:ext cx="4416552" cy="6858000"/>
          </a:xfrm>
          <a:prstGeom prst="rect">
            <a:avLst/>
          </a:prstGeom>
          <a:solidFill>
            <a:srgbClr val="2644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B25A37"/>
                </a:solidFill>
                <a:latin typeface="Calibri"/>
              </a:defRPr>
            </a:pPr>
            <a:r>
              <a:t>MYANMAR · 2019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8229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400" b="1" i="0">
                <a:solidFill>
                  <a:srgbClr val="FFFFFF"/>
                </a:solidFill>
                <a:latin typeface="Calibri"/>
              </a:defRPr>
            </a:pPr>
            <a:r>
              <a:t>Supermarket</a:t>
            </a:r>
            <a:br/>
            <a:r>
              <a:t>Sales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703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900" b="0" i="1">
                <a:solidFill>
                  <a:srgbClr val="AAC8AF"/>
                </a:solidFill>
                <a:latin typeface="Calibri"/>
              </a:defRPr>
            </a:pPr>
            <a:r>
              <a:t>Análisis de datos para 3 campañas de marketing mensuales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434840"/>
            <a:ext cx="3840480" cy="50292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526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CAA91"/>
                </a:solidFill>
                <a:latin typeface="Calibri"/>
              </a:defRPr>
            </a:pPr>
            <a:r>
              <a:t>Cliente: Cadena de Supermercados  |  3 sucursales  |  Enero – Marzo</a:t>
            </a:r>
          </a:p>
        </p:txBody>
      </p:sp>
      <p:sp>
        <p:nvSpPr>
          <p:cNvPr id="9" name="Rectangle 8"/>
          <p:cNvSpPr/>
          <p:nvPr/>
        </p:nvSpPr>
        <p:spPr>
          <a:xfrm>
            <a:off x="8046720" y="1097280"/>
            <a:ext cx="3749039" cy="1325880"/>
          </a:xfrm>
          <a:prstGeom prst="rect">
            <a:avLst/>
          </a:prstGeom>
          <a:solidFill>
            <a:srgbClr val="16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0" y="1170432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B25A37"/>
                </a:solidFill>
                <a:latin typeface="Calibri"/>
              </a:defRPr>
            </a:pPr>
            <a:r>
              <a:t>1,000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93852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A0C3A5"/>
                </a:solidFill>
                <a:latin typeface="Calibri"/>
              </a:defRPr>
            </a:pPr>
            <a:r>
              <a:t>Transacciones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2651760"/>
            <a:ext cx="3749039" cy="1325880"/>
          </a:xfrm>
          <a:prstGeom prst="rect">
            <a:avLst/>
          </a:prstGeom>
          <a:solidFill>
            <a:srgbClr val="16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0" y="2724912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B25A37"/>
                </a:solidFill>
                <a:latin typeface="Calibri"/>
              </a:defRPr>
            </a:pPr>
            <a:r>
              <a:t>$322.9K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349300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A0C3A5"/>
                </a:solidFill>
                <a:latin typeface="Calibri"/>
              </a:defRPr>
            </a:pPr>
            <a:r>
              <a:t>Ventas totales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4206240"/>
            <a:ext cx="3749039" cy="1325880"/>
          </a:xfrm>
          <a:prstGeom prst="rect">
            <a:avLst/>
          </a:prstGeom>
          <a:solidFill>
            <a:srgbClr val="16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4279392"/>
            <a:ext cx="3749039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B25A37"/>
                </a:solidFill>
                <a:latin typeface="Calibri"/>
              </a:defRPr>
            </a:pPr>
            <a:r>
              <a:t>$323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504748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 i="0">
                <a:solidFill>
                  <a:srgbClr val="A0C3A5"/>
                </a:solidFill>
                <a:latin typeface="Calibri"/>
              </a:defRPr>
            </a:pPr>
            <a:r>
              <a:t>Ticket promedio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Contexto del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Tres ciudades, tres perfiles de consumidor en Myanmar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08760"/>
            <a:ext cx="3657600" cy="4754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508760"/>
            <a:ext cx="256032" cy="4754880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002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E3C30"/>
                </a:solidFill>
                <a:latin typeface="Calibri"/>
              </a:defRPr>
            </a:pPr>
            <a: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148840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3C30"/>
                </a:solidFill>
                <a:latin typeface="Calibri"/>
              </a:defRPr>
            </a:pPr>
            <a:r>
              <a:t>Yangon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87752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B25A37"/>
                </a:solidFill>
                <a:latin typeface="Calibri"/>
              </a:defRPr>
            </a:pPr>
            <a:r>
              <a:t>Capital comercial y económica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944368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5.9M hab.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" y="3291840"/>
            <a:ext cx="3154680" cy="36576"/>
          </a:xfrm>
          <a:prstGeom prst="rect">
            <a:avLst/>
          </a:prstGeom>
          <a:solidFill>
            <a:srgbClr val="DCE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338328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3C30"/>
                </a:solidFill>
                <a:latin typeface="Calibri"/>
              </a:defRPr>
            </a:pPr>
            <a:r>
              <a:t>340 transacciones · Ticket prom: $312 · Rating 7.0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3840480"/>
            <a:ext cx="3154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t>La ciudad más cosmopolita. Mayor volumen pero ticket más bajo. El consumidor es el más diverso y competido.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1508760"/>
            <a:ext cx="3657600" cy="4754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508760"/>
            <a:ext cx="256032" cy="4754880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16002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648C6E"/>
                </a:solidFill>
                <a:latin typeface="Calibri"/>
              </a:defRPr>
            </a:pPr>
            <a: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2148840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3C30"/>
                </a:solidFill>
                <a:latin typeface="Calibri"/>
              </a:defRPr>
            </a:pPr>
            <a:r>
              <a:t>Mandalay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90872" y="2587752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B25A37"/>
                </a:solidFill>
                <a:latin typeface="Calibri"/>
              </a:defRPr>
            </a:pPr>
            <a:r>
              <a:t>Centro cultural del norte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90872" y="2944368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1.6M hab.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90872" y="3291840"/>
            <a:ext cx="3154680" cy="36576"/>
          </a:xfrm>
          <a:prstGeom prst="rect">
            <a:avLst/>
          </a:prstGeom>
          <a:solidFill>
            <a:srgbClr val="DCE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90872" y="338328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3C30"/>
                </a:solidFill>
                <a:latin typeface="Calibri"/>
              </a:defRPr>
            </a:pPr>
            <a:r>
              <a:t>332 transacciones · Ticket prom: $320 · Rating 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90872" y="3840480"/>
            <a:ext cx="3154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t>Hub religioso y cultural. Lidera en Health &amp; Beauty y Sports &amp; Travel. Menor satisfacción del cliente.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1508760"/>
            <a:ext cx="3657600" cy="47548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0" y="1508760"/>
            <a:ext cx="256032" cy="4754880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577072" y="1600200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B25A37"/>
                </a:solidFill>
                <a:latin typeface="Calibri"/>
              </a:defRPr>
            </a:pPr>
            <a:r>
              <a:t>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77072" y="2148840"/>
            <a:ext cx="3154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1E3C30"/>
                </a:solidFill>
                <a:latin typeface="Calibri"/>
              </a:defRPr>
            </a:pPr>
            <a:r>
              <a:t>Naypyitaw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77072" y="2587752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B25A37"/>
                </a:solidFill>
                <a:latin typeface="Calibri"/>
              </a:defRPr>
            </a:pPr>
            <a:r>
              <a:t>Capital política y gubernamental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77072" y="2944368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815K hab.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77072" y="3291840"/>
            <a:ext cx="3154680" cy="36576"/>
          </a:xfrm>
          <a:prstGeom prst="rect">
            <a:avLst/>
          </a:prstGeom>
          <a:solidFill>
            <a:srgbClr val="DCE8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77072" y="3383280"/>
            <a:ext cx="3154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E3C30"/>
                </a:solidFill>
                <a:latin typeface="Calibri"/>
              </a:defRPr>
            </a:pPr>
            <a:r>
              <a:t>328 transacciones · Ticket prom: $337 · Rating 7.1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77072" y="3840480"/>
            <a:ext cx="3154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t>La ciudad más chica, el ticket más alto. Los funcionarios de gobierno tienen ingresos estables y compran más por visita.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Comportamiento por Género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¿Cómo se comparan las compras de mujeres vs hombres?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5394960" cy="2286000"/>
          </a:xfrm>
          <a:prstGeom prst="rect">
            <a:avLst/>
          </a:prstGeom>
          <a:solidFill>
            <a:srgbClr val="F2EEE4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5394960" cy="54864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572768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600" b="1" i="0">
                <a:solidFill>
                  <a:srgbClr val="B25A37"/>
                </a:solidFill>
                <a:latin typeface="Calibri"/>
              </a:defRPr>
            </a:pPr>
            <a:r>
              <a:t>$335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t>ticket prom. · Mujeres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8803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501 transacciones · $167.8K totales · 52% de las ventas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444752"/>
            <a:ext cx="5394960" cy="2286000"/>
          </a:xfrm>
          <a:prstGeom prst="rect">
            <a:avLst/>
          </a:prstGeom>
          <a:solidFill>
            <a:srgbClr val="F2EEE4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444752"/>
            <a:ext cx="5394960" cy="54864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572768"/>
            <a:ext cx="50292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6600" b="1" i="0">
                <a:solidFill>
                  <a:srgbClr val="648C6E"/>
                </a:solidFill>
                <a:latin typeface="Calibri"/>
              </a:defRPr>
            </a:pPr>
            <a:r>
              <a:t>$311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542032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t>ticket prom. · Hombres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8803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499 transacciones · $155.1K totales · 48% de las ventas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86200"/>
            <a:ext cx="11064240" cy="658368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005072"/>
            <a:ext cx="10515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FFFFFF"/>
                </a:solidFill>
                <a:latin typeface="Calibri"/>
              </a:defRPr>
            </a:pPr>
            <a:r>
              <a:t>Insight: En Health &amp; Beauty, los hombres gastan un 65% más que las mujeres — la mayor brecha de todo el dataset.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63440"/>
            <a:ext cx="11064240" cy="1600200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r>
              <a:t>Insertar gráfico: ventas y ticket promedio por género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El Ritmo del Día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¿En qué momentos se concentran las ventas?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44752"/>
            <a:ext cx="7132320" cy="4800600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r>
              <a:t>Insertar gráfico: ventas y transacciones por hora (10h – 20h)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0" y="1444752"/>
            <a:ext cx="3749039" cy="4800600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863840" y="1444752"/>
            <a:ext cx="3749039" cy="54864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157276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B25A37"/>
                </a:solidFill>
                <a:latin typeface="Calibri"/>
              </a:defRPr>
            </a:pPr>
            <a:r>
              <a:t>DOS PICOS CLAVE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1993392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FFFFFF"/>
                </a:solidFill>
                <a:latin typeface="Calibri"/>
              </a:defRPr>
            </a:pPr>
            <a:r>
              <a:t>13:00 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251460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4D2B9"/>
                </a:solidFill>
                <a:latin typeface="Calibri"/>
              </a:defRPr>
            </a:pPr>
            <a:r>
              <a:t>$34.7K · 103 transacciones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92440" y="2971800"/>
            <a:ext cx="3017520" cy="36576"/>
          </a:xfrm>
          <a:prstGeom prst="rect">
            <a:avLst/>
          </a:prstGeom>
          <a:solidFill>
            <a:srgbClr val="50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92440" y="3108960"/>
            <a:ext cx="3337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 i="0">
                <a:solidFill>
                  <a:srgbClr val="B25A37"/>
                </a:solidFill>
                <a:latin typeface="Calibri"/>
              </a:defRPr>
            </a:pPr>
            <a:r>
              <a:t>19:00 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63016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4D2B9"/>
                </a:solidFill>
                <a:latin typeface="Calibri"/>
              </a:defRPr>
            </a:pPr>
            <a:r>
              <a:t>$39.7K · 113 transacciones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92440" y="4096512"/>
            <a:ext cx="3017520" cy="36576"/>
          </a:xfrm>
          <a:prstGeom prst="rect">
            <a:avLst/>
          </a:prstGeom>
          <a:solidFill>
            <a:srgbClr val="507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92440" y="4224528"/>
            <a:ext cx="3246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BED7C0"/>
                </a:solidFill>
                <a:latin typeface="Calibri"/>
              </a:defRPr>
            </a:pPr>
            <a:r>
              <a:t>Valle: 16h, 17h y 20h están por debajo del promedio. Oportunidad para generar tráfico con ofertas.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Desempeño del Portafolio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¿Qué categorías generan más ingresos?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44752"/>
            <a:ext cx="6766560" cy="4800600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r>
              <a:t>Insertar gráfico: ingresos por línea de producto (barras horizontales)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79" y="1444752"/>
            <a:ext cx="4114800" cy="4800600"/>
          </a:xfrm>
          <a:prstGeom prst="rect">
            <a:avLst/>
          </a:prstGeom>
          <a:solidFill>
            <a:srgbClr val="F2EEE4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1572768"/>
            <a:ext cx="37490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 i="0">
                <a:solidFill>
                  <a:srgbClr val="B25A37"/>
                </a:solidFill>
                <a:latin typeface="Calibri"/>
              </a:defRPr>
            </a:pPr>
            <a:r>
              <a:t>RANKING DE INGRESOS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965960"/>
            <a:ext cx="3749039" cy="566928"/>
          </a:xfrm>
          <a:prstGeom prst="rect">
            <a:avLst/>
          </a:prstGeom>
          <a:solidFill>
            <a:srgbClr val="F2E4DA"/>
          </a:solidFill>
          <a:ln w="10160">
            <a:solidFill>
              <a:srgbClr val="B25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26679" y="2039112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5008" y="203911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E3C30"/>
                </a:solidFill>
                <a:latin typeface="Calibri"/>
              </a:defRPr>
            </a:pPr>
            <a:r>
              <a:t>Food &amp; Beverages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0" y="2039112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t>$56.1K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35240" y="2624328"/>
            <a:ext cx="3749039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26679" y="2697480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5008" y="2697480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E3C30"/>
                </a:solidFill>
                <a:latin typeface="Calibri"/>
              </a:defRPr>
            </a:pPr>
            <a:r>
              <a:t>Sports &amp; Travel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2697480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191916"/>
                </a:solidFill>
                <a:latin typeface="Calibri"/>
              </a:defRPr>
            </a:pPr>
            <a:r>
              <a:t>$55.1K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635240" y="3282696"/>
            <a:ext cx="3749039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26679" y="3355848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5008" y="3355848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E3C30"/>
                </a:solidFill>
                <a:latin typeface="Calibri"/>
              </a:defRPr>
            </a:pPr>
            <a:r>
              <a:t>Electronic Acc.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3355848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191916"/>
                </a:solidFill>
                <a:latin typeface="Calibri"/>
              </a:defRPr>
            </a:pPr>
            <a:r>
              <a:t>$54.3K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3941064"/>
            <a:ext cx="3749039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26679" y="4014216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5008" y="4014216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E3C30"/>
                </a:solidFill>
                <a:latin typeface="Calibri"/>
              </a:defRPr>
            </a:pPr>
            <a:r>
              <a:t>Fashion Acc.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4014216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191916"/>
                </a:solidFill>
                <a:latin typeface="Calibri"/>
              </a:defRPr>
            </a:pPr>
            <a:r>
              <a:t>$54.3K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35240" y="4599431"/>
            <a:ext cx="3749039" cy="566928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26679" y="4672583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5008" y="4672583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1E3C30"/>
                </a:solidFill>
                <a:latin typeface="Calibri"/>
              </a:defRPr>
            </a:pPr>
            <a:r>
              <a:t>Home &amp; Lifestyle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4672583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191916"/>
                </a:solidFill>
                <a:latin typeface="Calibri"/>
              </a:defRPr>
            </a:pPr>
            <a:r>
              <a:t>$53.9K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635240" y="5257800"/>
            <a:ext cx="3749039" cy="566928"/>
          </a:xfrm>
          <a:prstGeom prst="rect">
            <a:avLst/>
          </a:prstGeom>
          <a:solidFill>
            <a:srgbClr val="F2E4DA"/>
          </a:solidFill>
          <a:ln w="10160">
            <a:solidFill>
              <a:srgbClr val="B25A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26679" y="5330952"/>
            <a:ext cx="3200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828076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65008" y="5330952"/>
            <a:ext cx="2194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E3C30"/>
                </a:solidFill>
                <a:latin typeface="Calibri"/>
              </a:defRPr>
            </a:pPr>
            <a:r>
              <a:t>Health &amp; Beauty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5330952"/>
            <a:ext cx="10515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t>$49.1K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Productos por Género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¿Qué compra cada género por categoría?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44752"/>
            <a:ext cx="11064240" cy="2834640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r>
              <a:t>Insertar gráfico: % por género en cada línea de producto (barras 100% apiladas)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462272"/>
            <a:ext cx="260604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4462272"/>
            <a:ext cx="2606040" cy="54864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55371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3C30"/>
                </a:solidFill>
                <a:latin typeface="Calibri"/>
              </a:defRPr>
            </a:pPr>
            <a:r>
              <a:t>Health &amp; Beauty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91947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t>Hombres 62.3%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2578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48C6E"/>
                </a:solidFill>
                <a:latin typeface="Calibri"/>
              </a:defRPr>
            </a:pPr>
            <a:r>
              <a:t>Mujeres 37.7%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4462272"/>
            <a:ext cx="260604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83280" y="4462272"/>
            <a:ext cx="2606040" cy="54864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455371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3C30"/>
                </a:solidFill>
                <a:latin typeface="Calibri"/>
              </a:defRPr>
            </a:pPr>
            <a:r>
              <a:t>Food &amp; Beverages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491947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48C6E"/>
                </a:solidFill>
                <a:latin typeface="Calibri"/>
              </a:defRPr>
            </a:pPr>
            <a:r>
              <a:t>Mujeres 59.1%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52578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t>Hombres 40.9%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4462272"/>
            <a:ext cx="260604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4462272"/>
            <a:ext cx="2606040" cy="54864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455371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3C30"/>
                </a:solidFill>
                <a:latin typeface="Calibri"/>
              </a:defRPr>
            </a:pPr>
            <a:r>
              <a:t>Fashion Acc.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91947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48C6E"/>
                </a:solidFill>
                <a:latin typeface="Calibri"/>
              </a:defRPr>
            </a:pPr>
            <a:r>
              <a:t>Mujeres 56.0%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52578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B25A37"/>
                </a:solidFill>
                <a:latin typeface="Calibri"/>
              </a:defRPr>
            </a:pPr>
            <a:r>
              <a:t>Hombres 44.0%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4462272"/>
            <a:ext cx="2606040" cy="1783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52560" y="4462272"/>
            <a:ext cx="2606040" cy="54864"/>
          </a:xfrm>
          <a:prstGeom prst="rect">
            <a:avLst/>
          </a:prstGeom>
          <a:solidFill>
            <a:srgbClr val="8280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89720" y="455371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E3C30"/>
                </a:solidFill>
                <a:latin typeface="Calibri"/>
              </a:defRPr>
            </a:pPr>
            <a:r>
              <a:t>Electronic Acc.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4919472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28076"/>
                </a:solidFill>
                <a:latin typeface="Calibri"/>
              </a:defRPr>
            </a:pPr>
            <a:r>
              <a:t>Casi igualado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5257800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828076"/>
                </a:solidFill>
                <a:latin typeface="Calibri"/>
              </a:defRPr>
            </a:pPr>
            <a:r>
              <a:t>50% / 50%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612880" y="4462272"/>
            <a:ext cx="548640" cy="1783080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Performance por Sucursal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96112"/>
            <a:ext cx="10058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¿Cómo se desempeña cada sucursal?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3657600" cy="2606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3657600" cy="64008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t>A · Yangon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1E3C30"/>
                </a:solidFill>
                <a:latin typeface="Calibri"/>
              </a:defRPr>
            </a:pPr>
            <a:r>
              <a:t>$106.2K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340 transacciones · ticket $312 · rating 7.0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01752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t>Mayor volumen, menor ticket. Lidera en Home &amp; Lifestyle.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417320"/>
            <a:ext cx="3657600" cy="2606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417320"/>
            <a:ext cx="3657600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53619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t>C · Naypyitaw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1920240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B25A37"/>
                </a:solidFill>
                <a:latin typeface="Calibri"/>
              </a:defRPr>
            </a:pPr>
            <a:r>
              <a:t>$110.6K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65176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328 transacciones · ticket $337 · rating 7.1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1752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t>Menor volumen pero mayor ticket y mejor satisfacción.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1417320"/>
            <a:ext cx="3657600" cy="2606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417320"/>
            <a:ext cx="3657600" cy="64008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1536192"/>
            <a:ext cx="3337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1E3C30"/>
                </a:solidFill>
                <a:latin typeface="Calibri"/>
              </a:defRPr>
            </a:pPr>
            <a:r>
              <a:t>B · Mandalay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1920240"/>
            <a:ext cx="33375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800" b="1" i="0">
                <a:solidFill>
                  <a:srgbClr val="648C6E"/>
                </a:solidFill>
                <a:latin typeface="Calibri"/>
              </a:defRPr>
            </a:pPr>
            <a:r>
              <a:t>$106.2K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19" y="265176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828076"/>
                </a:solidFill>
                <a:latin typeface="Calibri"/>
              </a:defRPr>
            </a:pPr>
            <a:r>
              <a:t>332 transacciones · ticket $320 · rating 6.8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03919" y="3017520"/>
            <a:ext cx="3337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191916"/>
                </a:solidFill>
                <a:latin typeface="Calibri"/>
              </a:defRPr>
            </a:pPr>
            <a:r>
              <a:t>Lidera en Health &amp; Beauty. Rating más bajo: oportunidad de mejora.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24528"/>
            <a:ext cx="11064240" cy="2011680"/>
          </a:xfrm>
          <a:prstGeom prst="roundRect">
            <a:avLst/>
          </a:prstGeom>
          <a:solidFill>
            <a:srgbClr val="EAEEE8"/>
          </a:solidFill>
          <a:ln w="15240">
            <a:solidFill>
              <a:srgbClr val="AAB9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i="1">
                <a:solidFill>
                  <a:srgbClr val="828076"/>
                </a:solidFill>
                <a:latin typeface="Calibri"/>
              </a:defRPr>
            </a:pPr>
            <a:r>
              <a:t>Insertar gráfico: ventas y transacciones por sucursal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1E3C30"/>
                </a:solidFill>
                <a:latin typeface="Calibri"/>
              </a:defRPr>
            </a:pPr>
            <a:r>
              <a:t>Propuesta de Campañas de Marketing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10058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1">
                <a:solidFill>
                  <a:srgbClr val="828076"/>
                </a:solidFill>
                <a:latin typeface="Calibri"/>
              </a:defRPr>
            </a:pPr>
            <a:r>
              <a:t>Una acción concreta por mes, fundamentada en los datos del dataset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44752"/>
            <a:ext cx="3657600" cy="5212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44752"/>
            <a:ext cx="3657600" cy="914400"/>
          </a:xfrm>
          <a:prstGeom prst="rect">
            <a:avLst/>
          </a:prstGeom>
          <a:solidFill>
            <a:srgbClr val="1E3C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t>MES 1 · ENERO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Sabores y Familia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603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E3C30"/>
                </a:solidFill>
                <a:latin typeface="Calibri"/>
              </a:defRPr>
            </a:pPr>
            <a:r>
              <a:t>FOCO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852927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Food &amp; Beverages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5661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E3C30"/>
                </a:solidFill>
                <a:latin typeface="Calibri"/>
              </a:defRPr>
            </a:pPr>
            <a: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5876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Mujeres — Naypyitaw y Yangon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5720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E3C30"/>
                </a:solidFill>
                <a:latin typeface="Calibri"/>
              </a:defRPr>
            </a:pPr>
            <a:r>
              <a:t>TÁCTICA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6460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Degustaciones y combos familiares en los picos de 13h y 19h.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7784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E3C30"/>
                </a:solidFill>
                <a:latin typeface="Calibri"/>
              </a:defRPr>
            </a:pPr>
            <a:r>
              <a:t>POR QUÉ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7044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Enero es el mejor mes ($116K). Mujeres dominan esta categoría (+44%). Naypyitaw lidera el mes.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1444752"/>
            <a:ext cx="3657600" cy="5212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444752"/>
            <a:ext cx="3657600" cy="914400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15087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FFFFFF"/>
                </a:solidFill>
                <a:latin typeface="Calibri"/>
              </a:defRPr>
            </a:pPr>
            <a:r>
              <a:t>MES 2 · FEBRERO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6280" y="1828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Bienestar para Él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5603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B25A37"/>
                </a:solidFill>
                <a:latin typeface="Calibri"/>
              </a:defRPr>
            </a:pPr>
            <a:r>
              <a:t>FOCO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852927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Health &amp; Beauty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5661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B25A37"/>
                </a:solidFill>
                <a:latin typeface="Calibri"/>
              </a:defRPr>
            </a:pPr>
            <a:r>
              <a:t>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5876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Hombres — Mandalay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720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B25A37"/>
                </a:solidFill>
                <a:latin typeface="Calibri"/>
              </a:defRPr>
            </a:pPr>
            <a:r>
              <a:t>TÁCTICA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86460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Comunicación y promociones pensadas exclusivamente para hombres.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26280" y="557784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B25A37"/>
                </a:solidFill>
                <a:latin typeface="Calibri"/>
              </a:defRPr>
            </a:pPr>
            <a:r>
              <a:t>POR QUÉ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587044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Febrero es el mes más bajo ($97K). La brecha masculina en H&amp;B es la mayor del dataset: 65%.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0" y="1444752"/>
            <a:ext cx="3657600" cy="5212080"/>
          </a:xfrm>
          <a:prstGeom prst="rect">
            <a:avLst/>
          </a:prstGeom>
          <a:solidFill>
            <a:srgbClr val="FFFFFF"/>
          </a:solidFill>
          <a:ln w="10160">
            <a:solidFill>
              <a:srgbClr val="DCE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9600" y="1444752"/>
            <a:ext cx="3657600" cy="914400"/>
          </a:xfrm>
          <a:prstGeom prst="rect">
            <a:avLst/>
          </a:prstGeom>
          <a:solidFill>
            <a:srgbClr val="648C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15087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93223"/>
                </a:solidFill>
                <a:latin typeface="Calibri"/>
              </a:defRPr>
            </a:pPr>
            <a:r>
              <a:t>MES 3 · MARZO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1828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93223"/>
                </a:solidFill>
                <a:latin typeface="Calibri"/>
              </a:defRPr>
            </a:pPr>
            <a:r>
              <a:t>Hogar y Estilo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256032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8C6E"/>
                </a:solidFill>
                <a:latin typeface="Calibri"/>
              </a:defRPr>
            </a:pPr>
            <a:r>
              <a:t>FOCO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2852927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Home &amp; Lifestyle + Sports &amp; Travel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356616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8C6E"/>
                </a:solidFill>
                <a:latin typeface="Calibri"/>
              </a:defRPr>
            </a:pPr>
            <a:r>
              <a:t>TARGET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385876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Público general — Yangon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457200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8C6E"/>
                </a:solidFill>
                <a:latin typeface="Calibri"/>
              </a:defRPr>
            </a:pPr>
            <a:r>
              <a:t>TÁCTICA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486460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Combos cruzados hogar + deporte. Aprovechar el ticket alto de Yangon en estas líneas.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5577840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48C6E"/>
                </a:solidFill>
                <a:latin typeface="Calibri"/>
              </a:defRPr>
            </a:pPr>
            <a:r>
              <a:t>POR QUÉ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5870448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191916"/>
                </a:solidFill>
                <a:latin typeface="Calibri"/>
              </a:defRPr>
            </a:pPr>
            <a:r>
              <a:t>Marzo antecede al Año Nuevo birmano (abril): las familias renuevan el hogar.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58368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28076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C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1632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B25A37"/>
                </a:solidFill>
                <a:latin typeface="Calibri"/>
              </a:defRPr>
            </a:pPr>
            <a:r>
              <a:t>LO QUE NOS DICE LA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 i="0">
                <a:solidFill>
                  <a:srgbClr val="FFFFFF"/>
                </a:solidFill>
                <a:latin typeface="Calibri"/>
              </a:defRPr>
            </a:pPr>
            <a:r>
              <a:t>Conclusiones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240280"/>
            <a:ext cx="4114800" cy="54864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514600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t>La distribución entre géneros, sucursales y horarios es equilibrada — pero con brechas muy accionables.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264408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172968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t>Health &amp; Beauty: los hombres gastan 65% más que las mujeres. El mayor insight del dataset.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014215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22776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t>Los picos de 13h y 19h deben ser el eje de cualquier activación en sucursal.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764023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672583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t>Naypyitaw factura más con menos transacciones: prioridad para campañas de ticket alto.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513831"/>
            <a:ext cx="201168" cy="201168"/>
          </a:xfrm>
          <a:prstGeom prst="rect">
            <a:avLst/>
          </a:prstGeom>
          <a:solidFill>
            <a:srgbClr val="B25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422392"/>
            <a:ext cx="7406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FFFFFF"/>
                </a:solidFill>
                <a:latin typeface="Calibri"/>
              </a:defRPr>
            </a:pPr>
            <a:r>
              <a:t>Febrero es el mes más débil. Una campaña focalizada (Health &amp; Beauty / hombres) puede revertirlo.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37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64876C"/>
                </a:solidFill>
                <a:latin typeface="Calibri"/>
              </a:defRPr>
            </a:pPr>
            <a:r>
              <a:t>Desafío 3  ·  Supermarket Sales  ·  Myanmar 2019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