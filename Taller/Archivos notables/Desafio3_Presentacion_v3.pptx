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5A37"/>
    <a:srgbClr val="648C6E"/>
    <a:srgbClr val="1E3C30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 snapToObjects="1">
      <p:cViewPr varScale="1">
        <p:scale>
          <a:sx n="95" d="100"/>
          <a:sy n="95" d="100"/>
        </p:scale>
        <p:origin x="200" y="8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vierfernandez/Desktop/tallerStoryteling/Taller/Archivos%20notables/Supermarket%20Sales%20Dataset%20v1.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vierfernandez/Desktop/tallerStoryteling/Taller/Archivos%20notables/Supermarket%20Sales%20Dataset%20v1.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vierfernandez/Desktop/tallerStoryteling/Taller/Archivos%20notables/Supermarket%20Sales%20Dataset%20v1.0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vierfernandez/Desktop/tallerStoryteling/Taller/Archivos%20notables/Supermarket%20Sales%20Dataset%20v1.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vierfernandez/Desktop/tallerStoryteling/Taller/Archivos%20notables/Supermarket%20Sales%20Dataset%20v1.0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 Sales Dataset v1.0.xlsx]1!TablaDinámica1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3012428324508211E-2"/>
          <c:y val="5.0632911392405063E-2"/>
          <c:w val="0.73570358583225881"/>
          <c:h val="0.8389350144523073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'1'!$B$4:$B$5</c:f>
              <c:strCache>
                <c:ptCount val="1"/>
                <c:pt idx="0">
                  <c:v>Electronic accessories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'1'!$A$6:$A$8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'1'!$B$6:$B$8</c:f>
              <c:numCache>
                <c:formatCode>General</c:formatCode>
                <c:ptCount val="2"/>
                <c:pt idx="0">
                  <c:v>27102.022499999999</c:v>
                </c:pt>
                <c:pt idx="1">
                  <c:v>27235.508999999998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C5-0E45-B928-7D44DF8426CC}"/>
            </c:ext>
          </c:extLst>
        </c:ser>
        <c:ser>
          <c:idx val="1"/>
          <c:order val="1"/>
          <c:tx>
            <c:strRef>
              <c:f>'1'!$C$4:$C$5</c:f>
              <c:strCache>
                <c:ptCount val="1"/>
                <c:pt idx="0">
                  <c:v>Fashion accessories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'1'!$A$6:$A$8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'1'!$C$6:$C$8</c:f>
              <c:numCache>
                <c:formatCode>General</c:formatCode>
                <c:ptCount val="2"/>
                <c:pt idx="0">
                  <c:v>30437.400000000009</c:v>
                </c:pt>
                <c:pt idx="1">
                  <c:v>23868.494999999999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C5-0E45-B928-7D44DF8426CC}"/>
            </c:ext>
          </c:extLst>
        </c:ser>
        <c:ser>
          <c:idx val="2"/>
          <c:order val="2"/>
          <c:tx>
            <c:strRef>
              <c:f>'1'!$D$4:$D$5</c:f>
              <c:strCache>
                <c:ptCount val="1"/>
                <c:pt idx="0">
                  <c:v>Food and beverages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'1'!$A$6:$A$8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'1'!$D$6:$D$8</c:f>
              <c:numCache>
                <c:formatCode>General</c:formatCode>
                <c:ptCount val="2"/>
                <c:pt idx="0">
                  <c:v>33170.917499999996</c:v>
                </c:pt>
                <c:pt idx="1">
                  <c:v>22973.92649999999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C5-0E45-B928-7D44DF8426CC}"/>
            </c:ext>
          </c:extLst>
        </c:ser>
        <c:ser>
          <c:idx val="3"/>
          <c:order val="3"/>
          <c:tx>
            <c:strRef>
              <c:f>'1'!$E$4:$E$5</c:f>
              <c:strCache>
                <c:ptCount val="1"/>
                <c:pt idx="0">
                  <c:v>Health and beauty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'1'!$A$6:$A$8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'1'!$E$6:$E$8</c:f>
              <c:numCache>
                <c:formatCode>General</c:formatCode>
                <c:ptCount val="2"/>
                <c:pt idx="0">
                  <c:v>18560.986499999995</c:v>
                </c:pt>
                <c:pt idx="1">
                  <c:v>30632.752499999995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EC5-0E45-B928-7D44DF8426CC}"/>
            </c:ext>
          </c:extLst>
        </c:ser>
        <c:ser>
          <c:idx val="4"/>
          <c:order val="4"/>
          <c:tx>
            <c:strRef>
              <c:f>'1'!$F$4:$F$5</c:f>
              <c:strCache>
                <c:ptCount val="1"/>
                <c:pt idx="0">
                  <c:v>Home and lifestyle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'1'!$A$6:$A$8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'1'!$F$6:$F$8</c:f>
              <c:numCache>
                <c:formatCode>General</c:formatCode>
                <c:ptCount val="2"/>
                <c:pt idx="0">
                  <c:v>30036.877500000006</c:v>
                </c:pt>
                <c:pt idx="1">
                  <c:v>23825.035499999998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C5-0E45-B928-7D44DF8426CC}"/>
            </c:ext>
          </c:extLst>
        </c:ser>
        <c:ser>
          <c:idx val="5"/>
          <c:order val="5"/>
          <c:tx>
            <c:strRef>
              <c:f>'1'!$G$4:$G$5</c:f>
              <c:strCache>
                <c:ptCount val="1"/>
                <c:pt idx="0">
                  <c:v>Sports and travel</c:v>
                </c:pt>
              </c:strCache>
            </c:strRef>
          </c:tx>
          <c:spPr>
            <a:solidFill>
              <a:schemeClr val="bg1">
                <a:lumMod val="85000"/>
                <a:alpha val="39572"/>
              </a:schemeClr>
            </a:solidFill>
            <a:ln>
              <a:noFill/>
            </a:ln>
            <a:effectLst/>
          </c:spPr>
          <c:invertIfNegative val="0"/>
          <c:cat>
            <c:strRef>
              <c:f>'1'!$A$6:$A$8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'1'!$G$6:$G$8</c:f>
              <c:numCache>
                <c:formatCode>General</c:formatCode>
                <c:ptCount val="2"/>
                <c:pt idx="0">
                  <c:v>28574.72099999999</c:v>
                </c:pt>
                <c:pt idx="1">
                  <c:v>26548.105500000001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EC5-0E45-B928-7D44DF842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417411327"/>
        <c:axId val="417413119"/>
      </c:barChart>
      <c:catAx>
        <c:axId val="4174113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Y"/>
          </a:p>
        </c:txPr>
        <c:crossAx val="417413119"/>
        <c:crosses val="autoZero"/>
        <c:auto val="1"/>
        <c:lblAlgn val="ctr"/>
        <c:lblOffset val="100"/>
        <c:noMultiLvlLbl val="0"/>
      </c:catAx>
      <c:valAx>
        <c:axId val="417413119"/>
        <c:scaling>
          <c:orientation val="minMax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Y"/>
          </a:p>
        </c:txPr>
        <c:crossAx val="417411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UY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UY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_tradnl"/>
              <a:t>Total de ventas en $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UY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'2.1'!$A$3:$A$13</c:f>
              <c:numCache>
                <c:formatCode>[$-F400]h:mm:ss\ AM/PM</c:formatCode>
                <c:ptCount val="11"/>
                <c:pt idx="0">
                  <c:v>0.41666666666666669</c:v>
                </c:pt>
                <c:pt idx="1">
                  <c:v>0.45833333333333331</c:v>
                </c:pt>
                <c:pt idx="2">
                  <c:v>0.5</c:v>
                </c:pt>
                <c:pt idx="3">
                  <c:v>0.54166666666666663</c:v>
                </c:pt>
                <c:pt idx="4">
                  <c:v>0.58333333333333337</c:v>
                </c:pt>
                <c:pt idx="5">
                  <c:v>0.625</c:v>
                </c:pt>
                <c:pt idx="6">
                  <c:v>0.66666666666666663</c:v>
                </c:pt>
                <c:pt idx="7">
                  <c:v>0.70833333333333337</c:v>
                </c:pt>
                <c:pt idx="8">
                  <c:v>0.75</c:v>
                </c:pt>
                <c:pt idx="9">
                  <c:v>0.79166666666666663</c:v>
                </c:pt>
                <c:pt idx="10">
                  <c:v>0.83333333333333337</c:v>
                </c:pt>
              </c:numCache>
            </c:numRef>
          </c:cat>
          <c:val>
            <c:numRef>
              <c:f>'2.1'!$B$3:$B$13</c:f>
              <c:numCache>
                <c:formatCode>0</c:formatCode>
                <c:ptCount val="11"/>
                <c:pt idx="0">
                  <c:v>31421</c:v>
                </c:pt>
                <c:pt idx="1">
                  <c:v>30377</c:v>
                </c:pt>
                <c:pt idx="2">
                  <c:v>26066</c:v>
                </c:pt>
                <c:pt idx="3">
                  <c:v>34723</c:v>
                </c:pt>
                <c:pt idx="4">
                  <c:v>30828</c:v>
                </c:pt>
                <c:pt idx="5">
                  <c:v>31180</c:v>
                </c:pt>
                <c:pt idx="6">
                  <c:v>25226</c:v>
                </c:pt>
                <c:pt idx="7">
                  <c:v>24445</c:v>
                </c:pt>
                <c:pt idx="8">
                  <c:v>26030</c:v>
                </c:pt>
                <c:pt idx="9">
                  <c:v>39700</c:v>
                </c:pt>
                <c:pt idx="10">
                  <c:v>22970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16-0641-9E85-8BB4CAB6E0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31211328"/>
        <c:axId val="2052093056"/>
      </c:lineChart>
      <c:catAx>
        <c:axId val="2031211328"/>
        <c:scaling>
          <c:orientation val="minMax"/>
        </c:scaling>
        <c:delete val="0"/>
        <c:axPos val="b"/>
        <c:numFmt formatCode="[$-F400]h:mm:ss\ AM/P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Y"/>
          </a:p>
        </c:txPr>
        <c:crossAx val="2052093056"/>
        <c:crosses val="autoZero"/>
        <c:auto val="1"/>
        <c:lblAlgn val="ctr"/>
        <c:lblOffset val="100"/>
        <c:noMultiLvlLbl val="0"/>
      </c:catAx>
      <c:valAx>
        <c:axId val="2052093056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Y"/>
          </a:p>
        </c:txPr>
        <c:crossAx val="203121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UY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 Sales Dataset v1.0.xlsx]Hoja2!TablaDinámica2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582387070037297"/>
          <c:y val="0.15602836879432624"/>
          <c:w val="0.68573449371460149"/>
          <c:h val="0.7781609426481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Hoja2!$B$3:$B$4</c:f>
              <c:strCache>
                <c:ptCount val="1"/>
                <c:pt idx="0">
                  <c:v>Mandalay</c:v>
                </c:pt>
              </c:strCache>
            </c:strRef>
          </c:tx>
          <c:spPr>
            <a:solidFill>
              <a:srgbClr val="B25A37"/>
            </a:solidFill>
            <a:ln>
              <a:noFill/>
            </a:ln>
            <a:effectLst/>
          </c:spPr>
          <c:invertIfNegative val="0"/>
          <c:cat>
            <c:strRef>
              <c:f>Hoja2!$A$5:$A$11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and beverages</c:v>
                </c:pt>
                <c:pt idx="3">
                  <c:v>Health and beauty</c:v>
                </c:pt>
                <c:pt idx="4">
                  <c:v>Home and lifestyle</c:v>
                </c:pt>
                <c:pt idx="5">
                  <c:v>Sports and travel</c:v>
                </c:pt>
              </c:strCache>
            </c:strRef>
          </c:cat>
          <c:val>
            <c:numRef>
              <c:f>Hoja2!$B$5:$B$11</c:f>
              <c:numCache>
                <c:formatCode>General</c:formatCode>
                <c:ptCount val="6"/>
                <c:pt idx="0">
                  <c:v>17051.443499999998</c:v>
                </c:pt>
                <c:pt idx="1">
                  <c:v>16413.316499999997</c:v>
                </c:pt>
                <c:pt idx="2">
                  <c:v>15214.888500000001</c:v>
                </c:pt>
                <c:pt idx="3">
                  <c:v>19980.659999999996</c:v>
                </c:pt>
                <c:pt idx="4">
                  <c:v>17549.164499999999</c:v>
                </c:pt>
                <c:pt idx="5">
                  <c:v>19988.198999999997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A2-864F-89E3-8222238B1753}"/>
            </c:ext>
          </c:extLst>
        </c:ser>
        <c:ser>
          <c:idx val="1"/>
          <c:order val="1"/>
          <c:tx>
            <c:strRef>
              <c:f>Hoja2!$C$3:$C$4</c:f>
              <c:strCache>
                <c:ptCount val="1"/>
                <c:pt idx="0">
                  <c:v>Naypyitaw</c:v>
                </c:pt>
              </c:strCache>
            </c:strRef>
          </c:tx>
          <c:spPr>
            <a:solidFill>
              <a:srgbClr val="648C6E"/>
            </a:solidFill>
            <a:ln>
              <a:noFill/>
            </a:ln>
            <a:effectLst/>
          </c:spPr>
          <c:invertIfNegative val="0"/>
          <c:cat>
            <c:strRef>
              <c:f>Hoja2!$A$5:$A$11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and beverages</c:v>
                </c:pt>
                <c:pt idx="3">
                  <c:v>Health and beauty</c:v>
                </c:pt>
                <c:pt idx="4">
                  <c:v>Home and lifestyle</c:v>
                </c:pt>
                <c:pt idx="5">
                  <c:v>Sports and travel</c:v>
                </c:pt>
              </c:strCache>
            </c:strRef>
          </c:cat>
          <c:val>
            <c:numRef>
              <c:f>Hoja2!$C$5:$C$11</c:f>
              <c:numCache>
                <c:formatCode>General</c:formatCode>
                <c:ptCount val="6"/>
                <c:pt idx="0">
                  <c:v>18968.9745</c:v>
                </c:pt>
                <c:pt idx="1">
                  <c:v>21560.069999999996</c:v>
                </c:pt>
                <c:pt idx="2">
                  <c:v>23766.854999999992</c:v>
                </c:pt>
                <c:pt idx="3">
                  <c:v>16615.326000000001</c:v>
                </c:pt>
                <c:pt idx="4">
                  <c:v>13895.553</c:v>
                </c:pt>
                <c:pt idx="5">
                  <c:v>15761.928000000002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A2-864F-89E3-8222238B1753}"/>
            </c:ext>
          </c:extLst>
        </c:ser>
        <c:ser>
          <c:idx val="2"/>
          <c:order val="2"/>
          <c:tx>
            <c:strRef>
              <c:f>Hoja2!$D$3:$D$4</c:f>
              <c:strCache>
                <c:ptCount val="1"/>
                <c:pt idx="0">
                  <c:v>Yangon</c:v>
                </c:pt>
              </c:strCache>
            </c:strRef>
          </c:tx>
          <c:spPr>
            <a:solidFill>
              <a:srgbClr val="1E3C30"/>
            </a:solidFill>
            <a:ln>
              <a:noFill/>
            </a:ln>
            <a:effectLst/>
          </c:spPr>
          <c:invertIfNegative val="0"/>
          <c:cat>
            <c:strRef>
              <c:f>Hoja2!$A$5:$A$11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and beverages</c:v>
                </c:pt>
                <c:pt idx="3">
                  <c:v>Health and beauty</c:v>
                </c:pt>
                <c:pt idx="4">
                  <c:v>Home and lifestyle</c:v>
                </c:pt>
                <c:pt idx="5">
                  <c:v>Sports and travel</c:v>
                </c:pt>
              </c:strCache>
            </c:strRef>
          </c:cat>
          <c:val>
            <c:numRef>
              <c:f>Hoja2!$D$5:$D$11</c:f>
              <c:numCache>
                <c:formatCode>General</c:formatCode>
                <c:ptCount val="6"/>
                <c:pt idx="0">
                  <c:v>18317.113500000003</c:v>
                </c:pt>
                <c:pt idx="1">
                  <c:v>16332.508499999996</c:v>
                </c:pt>
                <c:pt idx="2">
                  <c:v>17163.1005</c:v>
                </c:pt>
                <c:pt idx="3">
                  <c:v>12597.752999999995</c:v>
                </c:pt>
                <c:pt idx="4">
                  <c:v>22417.195499999998</c:v>
                </c:pt>
                <c:pt idx="5">
                  <c:v>19372.699500000002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A2-864F-89E3-8222238B17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76058367"/>
        <c:axId val="2076051199"/>
      </c:barChart>
      <c:catAx>
        <c:axId val="20760583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Y"/>
          </a:p>
        </c:txPr>
        <c:crossAx val="2076051199"/>
        <c:crosses val="autoZero"/>
        <c:auto val="1"/>
        <c:lblAlgn val="ctr"/>
        <c:lblOffset val="100"/>
        <c:noMultiLvlLbl val="0"/>
      </c:catAx>
      <c:valAx>
        <c:axId val="2076051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Y"/>
          </a:p>
        </c:txPr>
        <c:crossAx val="2076058367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0050573283602711"/>
          <c:y val="0.40549595130395932"/>
          <c:w val="9.5985495234148357E-2"/>
          <c:h val="0.14361802647009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UY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UY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 Sales Dataset v1.0.xlsx]4!TablaDinámica2</c:name>
    <c:fmtId val="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8075474679377453E-2"/>
          <c:y val="7.914826498422714E-2"/>
          <c:w val="0.84856885155241879"/>
          <c:h val="0.7571402667726471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'4'!$B$1:$B$2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'4'!$A$3:$A$9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and beverages</c:v>
                </c:pt>
                <c:pt idx="3">
                  <c:v>Health and beauty</c:v>
                </c:pt>
                <c:pt idx="4">
                  <c:v>Home and lifestyle</c:v>
                </c:pt>
                <c:pt idx="5">
                  <c:v>Sports and travel</c:v>
                </c:pt>
              </c:strCache>
            </c:strRef>
          </c:cat>
          <c:val>
            <c:numRef>
              <c:f>'4'!$B$3:$B$9</c:f>
              <c:numCache>
                <c:formatCode>0</c:formatCode>
                <c:ptCount val="6"/>
                <c:pt idx="0">
                  <c:v>61040.741848872705</c:v>
                </c:pt>
                <c:pt idx="1">
                  <c:v>53795.60444778933</c:v>
                </c:pt>
                <c:pt idx="2">
                  <c:v>73564.155417905946</c:v>
                </c:pt>
                <c:pt idx="3">
                  <c:v>46333.560671972715</c:v>
                </c:pt>
                <c:pt idx="4">
                  <c:v>73050.587042320083</c:v>
                </c:pt>
                <c:pt idx="5">
                  <c:v>60859.104218321736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D0-E74F-8CFB-69B0756EA0F2}"/>
            </c:ext>
          </c:extLst>
        </c:ser>
        <c:ser>
          <c:idx val="1"/>
          <c:order val="1"/>
          <c:tx>
            <c:strRef>
              <c:f>'4'!$C$1:$C$2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'4'!$A$3:$A$9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and beverages</c:v>
                </c:pt>
                <c:pt idx="3">
                  <c:v>Health and beauty</c:v>
                </c:pt>
                <c:pt idx="4">
                  <c:v>Home and lifestyle</c:v>
                </c:pt>
                <c:pt idx="5">
                  <c:v>Sports and travel</c:v>
                </c:pt>
              </c:strCache>
            </c:strRef>
          </c:cat>
          <c:val>
            <c:numRef>
              <c:f>'4'!$C$3:$C$9</c:f>
              <c:numCache>
                <c:formatCode>0</c:formatCode>
                <c:ptCount val="6"/>
                <c:pt idx="0">
                  <c:v>60644.669259598784</c:v>
                </c:pt>
                <c:pt idx="1">
                  <c:v>66170.757180746601</c:v>
                </c:pt>
                <c:pt idx="2">
                  <c:v>43712.829019077595</c:v>
                </c:pt>
                <c:pt idx="3">
                  <c:v>62943.759867070199</c:v>
                </c:pt>
                <c:pt idx="4">
                  <c:v>53904.33227766319</c:v>
                </c:pt>
                <c:pt idx="5">
                  <c:v>63299.139053200211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D0-E74F-8CFB-69B0756EA0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370959999"/>
        <c:axId val="371231807"/>
      </c:barChart>
      <c:catAx>
        <c:axId val="3709599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Y"/>
          </a:p>
        </c:txPr>
        <c:crossAx val="371231807"/>
        <c:crosses val="autoZero"/>
        <c:auto val="1"/>
        <c:lblAlgn val="ctr"/>
        <c:lblOffset val="100"/>
        <c:noMultiLvlLbl val="0"/>
      </c:catAx>
      <c:valAx>
        <c:axId val="371231807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Y"/>
          </a:p>
        </c:txPr>
        <c:crossAx val="3709599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UY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 Sales Dataset v1.0.xlsx]5!TablaDinámica5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UY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'5'!$B$3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648C6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349-E140-92EE-38C7665914A4}"/>
              </c:ext>
            </c:extLst>
          </c:dPt>
          <c:dPt>
            <c:idx val="1"/>
            <c:invertIfNegative val="0"/>
            <c:bubble3D val="0"/>
            <c:spPr>
              <a:solidFill>
                <a:srgbClr val="B25A3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349-E140-92EE-38C7665914A4}"/>
              </c:ext>
            </c:extLst>
          </c:dPt>
          <c:dPt>
            <c:idx val="2"/>
            <c:invertIfNegative val="0"/>
            <c:bubble3D val="0"/>
            <c:spPr>
              <a:solidFill>
                <a:srgbClr val="1E3C3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349-E140-92EE-38C7665914A4}"/>
              </c:ext>
            </c:extLst>
          </c:dPt>
          <c:cat>
            <c:strRef>
              <c:f>'5'!$A$4:$A$7</c:f>
              <c:strCache>
                <c:ptCount val="3"/>
                <c:pt idx="0">
                  <c:v>Mandalay</c:v>
                </c:pt>
                <c:pt idx="1">
                  <c:v>Naypyitaw</c:v>
                </c:pt>
                <c:pt idx="2">
                  <c:v>Yangon</c:v>
                </c:pt>
              </c:strCache>
            </c:strRef>
          </c:cat>
          <c:val>
            <c:numRef>
              <c:f>'5'!$B$4:$B$7</c:f>
              <c:numCache>
                <c:formatCode>General</c:formatCode>
                <c:ptCount val="3"/>
                <c:pt idx="0">
                  <c:v>106197.67199999996</c:v>
                </c:pt>
                <c:pt idx="1">
                  <c:v>110568.70649999994</c:v>
                </c:pt>
                <c:pt idx="2">
                  <c:v>106200.37050000011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49-E140-92EE-38C7665914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71216319"/>
        <c:axId val="371217215"/>
      </c:barChart>
      <c:catAx>
        <c:axId val="371216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Y"/>
          </a:p>
        </c:txPr>
        <c:crossAx val="371217215"/>
        <c:crosses val="autoZero"/>
        <c:auto val="1"/>
        <c:lblAlgn val="ctr"/>
        <c:lblOffset val="100"/>
        <c:noMultiLvlLbl val="0"/>
      </c:catAx>
      <c:valAx>
        <c:axId val="371217215"/>
        <c:scaling>
          <c:orientation val="minMax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Y"/>
          </a:p>
        </c:txPr>
        <c:crossAx val="371216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UY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0.33333</cdr:x>
      <cdr:y>0.03121</cdr:y>
    </cdr:from>
    <cdr:to>
      <cdr:x>0.75263</cdr:x>
      <cdr:y>0.11631</cdr:y>
    </cdr:to>
    <cdr:sp macro="" textlink="">
      <cdr:nvSpPr>
        <cdr:cNvPr id="2" name="CuadroTexto 1">
          <a:extLst xmlns:a="http://schemas.openxmlformats.org/drawingml/2006/main">
            <a:ext uri="{FF2B5EF4-FFF2-40B4-BE49-F238E27FC236}">
              <a16:creationId xmlns:a16="http://schemas.microsoft.com/office/drawing/2014/main" id="{A015688C-CF2A-34E0-07BF-EC5D1C7C4CD2}"/>
            </a:ext>
          </a:extLst>
        </cdr:cNvPr>
        <cdr:cNvSpPr txBox="1"/>
      </cdr:nvSpPr>
      <cdr:spPr>
        <a:xfrm xmlns:a="http://schemas.openxmlformats.org/drawingml/2006/main">
          <a:off x="2413000" y="139700"/>
          <a:ext cx="3035300" cy="3810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s-ES_tradnl" sz="2000" kern="1200"/>
            <a:t>Ingresos por ciudad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26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B25A37"/>
                </a:solidFill>
                <a:latin typeface="Calibri"/>
              </a:defRPr>
            </a:pPr>
            <a:r>
              <a:t>MYANMAR · 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FFFFFF"/>
                </a:solidFill>
                <a:latin typeface="Calibri"/>
              </a:defRPr>
            </a:pPr>
            <a:r>
              <a:t>Supermarket</a:t>
            </a:r>
            <a:br/>
            <a:r>
              <a:t>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 i="1">
                <a:solidFill>
                  <a:srgbClr val="AAC8AF"/>
                </a:solidFill>
                <a:latin typeface="Calibri"/>
              </a:defRPr>
            </a:pP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para 3 </a:t>
            </a:r>
            <a:r>
              <a:rPr dirty="0" err="1"/>
              <a:t>campañas</a:t>
            </a:r>
            <a:r>
              <a:rPr dirty="0"/>
              <a:t> de marketing </a:t>
            </a:r>
            <a:r>
              <a:rPr dirty="0" err="1"/>
              <a:t>mensuales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4434840"/>
            <a:ext cx="3840480" cy="50292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82296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CAA91"/>
                </a:solidFill>
                <a:latin typeface="Calibri"/>
              </a:defRPr>
            </a:pPr>
            <a:r>
              <a:rPr lang="es-419" sz="1600" b="1" dirty="0"/>
              <a:t>Participantes</a:t>
            </a:r>
          </a:p>
          <a:p>
            <a:pPr algn="l">
              <a:defRPr sz="1100" b="0" i="1">
                <a:solidFill>
                  <a:srgbClr val="8CAA91"/>
                </a:solidFill>
                <a:latin typeface="Calibri"/>
              </a:defRPr>
            </a:pPr>
            <a:endParaRPr lang="es-419" dirty="0"/>
          </a:p>
          <a:p>
            <a:pPr algn="l">
              <a:defRPr sz="1100" b="0" i="1">
                <a:solidFill>
                  <a:srgbClr val="8CAA91"/>
                </a:solidFill>
                <a:latin typeface="Calibri"/>
              </a:defRPr>
            </a:pPr>
            <a:r>
              <a:rPr lang="es-419" dirty="0"/>
              <a:t>Javier Fernández - 172271</a:t>
            </a:r>
          </a:p>
          <a:p>
            <a:pPr algn="l">
              <a:defRPr sz="1100" b="0" i="1">
                <a:solidFill>
                  <a:srgbClr val="8CAA91"/>
                </a:solidFill>
                <a:latin typeface="Calibri"/>
              </a:defRPr>
            </a:pPr>
            <a:r>
              <a:rPr lang="es-419" dirty="0"/>
              <a:t>Facundo Duarte - 256083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8046720" y="1097280"/>
            <a:ext cx="3749039" cy="1325880"/>
          </a:xfrm>
          <a:prstGeom prst="rect">
            <a:avLst/>
          </a:prstGeom>
          <a:solidFill>
            <a:srgbClr val="16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17043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B25A37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385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A0C3A5"/>
                </a:solidFill>
                <a:latin typeface="Calibri"/>
              </a:defRPr>
            </a:pPr>
            <a:r>
              <a:t>Transacciones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651760"/>
            <a:ext cx="3749039" cy="1325880"/>
          </a:xfrm>
          <a:prstGeom prst="rect">
            <a:avLst/>
          </a:prstGeom>
          <a:solidFill>
            <a:srgbClr val="16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272491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B25A37"/>
                </a:solidFill>
                <a:latin typeface="Calibri"/>
              </a:defRPr>
            </a:pPr>
            <a:r>
              <a:t>$322.9K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930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A0C3A5"/>
                </a:solidFill>
                <a:latin typeface="Calibri"/>
              </a:defRPr>
            </a:pPr>
            <a:r>
              <a:t>Ventas totales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206240"/>
            <a:ext cx="3749039" cy="1325880"/>
          </a:xfrm>
          <a:prstGeom prst="rect">
            <a:avLst/>
          </a:prstGeom>
          <a:solidFill>
            <a:srgbClr val="16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427939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B25A37"/>
                </a:solidFill>
                <a:latin typeface="Calibri"/>
              </a:defRPr>
            </a:pPr>
            <a:r>
              <a:t>$323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04748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A0C3A5"/>
                </a:solidFill>
                <a:latin typeface="Calibri"/>
              </a:defRPr>
            </a:pPr>
            <a:r>
              <a:t>Ticket promedio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E3C30"/>
                </a:solidFill>
                <a:latin typeface="Calibri"/>
              </a:defRPr>
            </a:pPr>
            <a:r>
              <a:t>Contexto del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28076"/>
                </a:solidFill>
                <a:latin typeface="Calibri"/>
              </a:defRPr>
            </a:pPr>
            <a:r>
              <a:t>Tres ciudades, tres perfiles de consumidor en Myanmar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657600" cy="4754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56032" cy="4754880"/>
          </a:xfrm>
          <a:prstGeom prst="rect">
            <a:avLst/>
          </a:prstGeom>
          <a:solidFill>
            <a:srgbClr val="1E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30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C30"/>
                </a:solidFill>
                <a:latin typeface="Calibri"/>
              </a:defRPr>
            </a:pPr>
            <a:r>
              <a:rPr dirty="0"/>
              <a:t>Yangon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87752"/>
            <a:ext cx="3154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B25A37"/>
                </a:solidFill>
                <a:latin typeface="Calibri"/>
              </a:defRPr>
            </a:pPr>
            <a:r>
              <a:rPr sz="1400" dirty="0"/>
              <a:t>Capital </a:t>
            </a:r>
            <a:r>
              <a:rPr sz="1400" dirty="0" err="1"/>
              <a:t>comercial</a:t>
            </a:r>
            <a:r>
              <a:rPr sz="1400" dirty="0"/>
              <a:t> y </a:t>
            </a:r>
            <a:r>
              <a:rPr sz="1400" dirty="0" err="1"/>
              <a:t>económica</a:t>
            </a:r>
            <a:endParaRPr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804672" y="2944368"/>
            <a:ext cx="3154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28076"/>
                </a:solidFill>
                <a:latin typeface="Calibri"/>
              </a:defRPr>
            </a:pPr>
            <a:r>
              <a:rPr sz="1400" dirty="0"/>
              <a:t>5.9M hab.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291840"/>
            <a:ext cx="3154680" cy="36576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3584895"/>
            <a:ext cx="3154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E3C30"/>
                </a:solidFill>
                <a:latin typeface="Calibri"/>
              </a:defRPr>
            </a:pPr>
            <a:r>
              <a:rPr sz="1400" dirty="0"/>
              <a:t>340 </a:t>
            </a:r>
            <a:r>
              <a:rPr sz="1400" dirty="0" err="1"/>
              <a:t>transacciones</a:t>
            </a:r>
            <a:r>
              <a:rPr sz="1400" dirty="0"/>
              <a:t> · Ticket prom: $312 · Rating 7.0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486811"/>
            <a:ext cx="31546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91916"/>
                </a:solidFill>
                <a:latin typeface="Calibri"/>
              </a:defRPr>
            </a:pPr>
            <a:r>
              <a:rPr sz="1600" dirty="0"/>
              <a:t>La ciudad </a:t>
            </a:r>
            <a:r>
              <a:rPr sz="1600" dirty="0" err="1"/>
              <a:t>más</a:t>
            </a:r>
            <a:r>
              <a:rPr sz="1600" dirty="0"/>
              <a:t> </a:t>
            </a:r>
            <a:r>
              <a:rPr sz="1600" dirty="0" err="1"/>
              <a:t>cosmopolita</a:t>
            </a:r>
            <a:r>
              <a:rPr sz="1600" dirty="0"/>
              <a:t>. Mayor </a:t>
            </a:r>
            <a:r>
              <a:rPr sz="1600" dirty="0" err="1"/>
              <a:t>volumen</a:t>
            </a:r>
            <a:r>
              <a:rPr sz="1600" dirty="0"/>
              <a:t> </a:t>
            </a:r>
            <a:r>
              <a:rPr sz="1600" dirty="0" err="1"/>
              <a:t>pero</a:t>
            </a:r>
            <a:r>
              <a:rPr sz="1600" dirty="0"/>
              <a:t> ticket </a:t>
            </a:r>
            <a:r>
              <a:rPr sz="1600" dirty="0" err="1"/>
              <a:t>más</a:t>
            </a:r>
            <a:r>
              <a:rPr sz="1600" dirty="0"/>
              <a:t> bajo. El </a:t>
            </a:r>
            <a:r>
              <a:rPr sz="1600" dirty="0" err="1"/>
              <a:t>consumidor</a:t>
            </a:r>
            <a:r>
              <a:rPr sz="1600" dirty="0"/>
              <a:t> es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más</a:t>
            </a:r>
            <a:r>
              <a:rPr sz="1600" dirty="0"/>
              <a:t> </a:t>
            </a:r>
            <a:r>
              <a:rPr sz="1600" dirty="0" err="1"/>
              <a:t>diverso</a:t>
            </a:r>
            <a:r>
              <a:rPr sz="1600" dirty="0"/>
              <a:t> y </a:t>
            </a:r>
            <a:r>
              <a:rPr sz="1600" dirty="0" err="1"/>
              <a:t>competido</a:t>
            </a:r>
            <a:r>
              <a:rPr sz="1600"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3657600" cy="4754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508760"/>
            <a:ext cx="256032" cy="4754880"/>
          </a:xfrm>
          <a:prstGeom prst="rect">
            <a:avLst/>
          </a:prstGeom>
          <a:solidFill>
            <a:srgbClr val="64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90872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648C6E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148840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C30"/>
                </a:solidFill>
                <a:latin typeface="Calibri"/>
              </a:defRPr>
            </a:pPr>
            <a:r>
              <a:t>Mandalay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587752"/>
            <a:ext cx="3154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B25A37"/>
                </a:solidFill>
                <a:latin typeface="Calibri"/>
              </a:defRPr>
            </a:pPr>
            <a:r>
              <a:rPr sz="1400" dirty="0"/>
              <a:t>Centro cultural del </a:t>
            </a:r>
            <a:r>
              <a:rPr sz="1400" dirty="0" err="1"/>
              <a:t>norte</a:t>
            </a:r>
            <a:endParaRPr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4690872" y="2944368"/>
            <a:ext cx="3154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28076"/>
                </a:solidFill>
                <a:latin typeface="Calibri"/>
              </a:defRPr>
            </a:pPr>
            <a:r>
              <a:rPr sz="1400" dirty="0"/>
              <a:t>1.6M hab.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90872" y="3291840"/>
            <a:ext cx="3154680" cy="36576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90872" y="3383280"/>
            <a:ext cx="3154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E3C30"/>
                </a:solidFill>
                <a:latin typeface="Calibri"/>
              </a:defRPr>
            </a:pPr>
            <a:r>
              <a:rPr sz="1400" dirty="0"/>
              <a:t>332 </a:t>
            </a:r>
            <a:r>
              <a:rPr sz="1400" dirty="0" err="1"/>
              <a:t>transacciones</a:t>
            </a:r>
            <a:r>
              <a:rPr sz="1400" dirty="0"/>
              <a:t> · Ticket prom: $320 · Rating 6.8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4573107"/>
            <a:ext cx="3154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91916"/>
                </a:solidFill>
                <a:latin typeface="Calibri"/>
              </a:defRPr>
            </a:pPr>
            <a:r>
              <a:rPr lang="es-419" sz="1600" dirty="0"/>
              <a:t>Centro</a:t>
            </a:r>
            <a:r>
              <a:rPr sz="1600" dirty="0"/>
              <a:t> religioso y cultural. </a:t>
            </a:r>
            <a:r>
              <a:rPr sz="1600" dirty="0" err="1"/>
              <a:t>Lidera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Health &amp; Beauty y Sports &amp; Travel. Menor </a:t>
            </a:r>
            <a:r>
              <a:rPr sz="1600" dirty="0" err="1"/>
              <a:t>satisfacción</a:t>
            </a:r>
            <a:r>
              <a:rPr sz="1600" dirty="0"/>
              <a:t> del </a:t>
            </a:r>
            <a:r>
              <a:rPr sz="1600" dirty="0" err="1"/>
              <a:t>cliente</a:t>
            </a:r>
            <a:r>
              <a:rPr sz="1600" dirty="0"/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508760"/>
            <a:ext cx="3657600" cy="4754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1508760"/>
            <a:ext cx="256032" cy="4754880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77072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B25A37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2148840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C30"/>
                </a:solidFill>
                <a:latin typeface="Calibri"/>
              </a:defRPr>
            </a:pPr>
            <a:r>
              <a:t>Naypyitaw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2587752"/>
            <a:ext cx="3154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B25A37"/>
                </a:solidFill>
                <a:latin typeface="Calibri"/>
              </a:defRPr>
            </a:pPr>
            <a:r>
              <a:rPr sz="1400" dirty="0"/>
              <a:t>Capital </a:t>
            </a:r>
            <a:r>
              <a:rPr sz="1400" dirty="0" err="1"/>
              <a:t>política</a:t>
            </a:r>
            <a:r>
              <a:rPr sz="1400" dirty="0"/>
              <a:t> y </a:t>
            </a:r>
            <a:r>
              <a:rPr sz="1400" dirty="0" err="1"/>
              <a:t>gubernamental</a:t>
            </a:r>
            <a:endParaRPr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8577072" y="2944368"/>
            <a:ext cx="3154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28076"/>
                </a:solidFill>
                <a:latin typeface="Calibri"/>
              </a:defRPr>
            </a:pPr>
            <a:r>
              <a:rPr sz="1400" dirty="0"/>
              <a:t>815K hab.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77072" y="3291840"/>
            <a:ext cx="3154680" cy="36576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77072" y="3383280"/>
            <a:ext cx="3154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E3C30"/>
                </a:solidFill>
                <a:latin typeface="Calibri"/>
              </a:defRPr>
            </a:pPr>
            <a:r>
              <a:rPr sz="1400" dirty="0"/>
              <a:t>328 </a:t>
            </a:r>
            <a:r>
              <a:rPr sz="1400" dirty="0" err="1"/>
              <a:t>transacciones</a:t>
            </a:r>
            <a:r>
              <a:rPr sz="1400" dirty="0"/>
              <a:t> · Ticket prom: $337 · Rating 7.1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4546461"/>
            <a:ext cx="31546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91916"/>
                </a:solidFill>
                <a:latin typeface="Calibri"/>
              </a:defRPr>
            </a:pPr>
            <a:r>
              <a:rPr sz="1600" dirty="0"/>
              <a:t>La ciudad </a:t>
            </a:r>
            <a:r>
              <a:rPr sz="1600" dirty="0" err="1"/>
              <a:t>más</a:t>
            </a:r>
            <a:r>
              <a:rPr sz="1600" dirty="0"/>
              <a:t> </a:t>
            </a:r>
            <a:r>
              <a:rPr sz="1600" dirty="0" err="1"/>
              <a:t>chica</a:t>
            </a:r>
            <a:r>
              <a:rPr sz="1600" dirty="0"/>
              <a:t>, </a:t>
            </a:r>
            <a:r>
              <a:rPr sz="1600" dirty="0" err="1"/>
              <a:t>el</a:t>
            </a:r>
            <a:r>
              <a:rPr sz="1600" dirty="0"/>
              <a:t> ticket </a:t>
            </a:r>
            <a:r>
              <a:rPr sz="1600" dirty="0" err="1"/>
              <a:t>más</a:t>
            </a:r>
            <a:r>
              <a:rPr sz="1600" dirty="0"/>
              <a:t> alto. Los </a:t>
            </a:r>
            <a:r>
              <a:rPr sz="1600" dirty="0" err="1"/>
              <a:t>funcionarios</a:t>
            </a:r>
            <a:r>
              <a:rPr sz="1600" dirty="0"/>
              <a:t> de </a:t>
            </a:r>
            <a:r>
              <a:rPr sz="1600" dirty="0" err="1"/>
              <a:t>gobierno</a:t>
            </a:r>
            <a:r>
              <a:rPr sz="1600" dirty="0"/>
              <a:t> </a:t>
            </a:r>
            <a:r>
              <a:rPr sz="1600" dirty="0" err="1"/>
              <a:t>tienen</a:t>
            </a:r>
            <a:r>
              <a:rPr sz="1600" dirty="0"/>
              <a:t> </a:t>
            </a:r>
            <a:r>
              <a:rPr sz="1600" dirty="0" err="1"/>
              <a:t>ingresos</a:t>
            </a:r>
            <a:r>
              <a:rPr sz="1600" dirty="0"/>
              <a:t> </a:t>
            </a:r>
            <a:r>
              <a:rPr sz="1600" dirty="0" err="1"/>
              <a:t>estables</a:t>
            </a:r>
            <a:r>
              <a:rPr sz="1600" dirty="0"/>
              <a:t> y </a:t>
            </a:r>
            <a:r>
              <a:rPr sz="1600" dirty="0" err="1"/>
              <a:t>compran</a:t>
            </a:r>
            <a:r>
              <a:rPr sz="1600" dirty="0"/>
              <a:t> </a:t>
            </a:r>
            <a:r>
              <a:rPr sz="1600" dirty="0" err="1"/>
              <a:t>más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visita</a:t>
            </a:r>
            <a:r>
              <a:rPr sz="1600" dirty="0"/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28076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4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E3C30"/>
                </a:solidFill>
                <a:latin typeface="Calibri"/>
              </a:defRPr>
            </a:pPr>
            <a:r>
              <a:t>Comportamiento por Género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28076"/>
                </a:solidFill>
                <a:latin typeface="Calibri"/>
              </a:defRPr>
            </a:pPr>
            <a:r>
              <a:t>¿Cómo se comparan las compras de mujeres vs hombres?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4775200" cy="1728216"/>
          </a:xfrm>
          <a:prstGeom prst="rect">
            <a:avLst/>
          </a:prstGeom>
          <a:solidFill>
            <a:srgbClr val="F2EEE4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4775200" cy="54864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600" b="1" i="0">
                <a:solidFill>
                  <a:srgbClr val="B25A37"/>
                </a:solidFill>
                <a:latin typeface="Calibri"/>
              </a:defRPr>
            </a:pPr>
            <a:r>
              <a:rPr dirty="0"/>
              <a:t>$335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C30"/>
                </a:solidFill>
                <a:latin typeface="Calibri"/>
              </a:defRPr>
            </a:pPr>
            <a:r>
              <a:rPr dirty="0"/>
              <a:t>ticket prom. · Mujeres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28076"/>
                </a:solidFill>
                <a:latin typeface="Calibri"/>
              </a:defRPr>
            </a:pPr>
            <a:r>
              <a:rPr sz="1200" dirty="0"/>
              <a:t>501 </a:t>
            </a:r>
            <a:r>
              <a:rPr sz="1200" dirty="0" err="1"/>
              <a:t>transacciones</a:t>
            </a:r>
            <a:r>
              <a:rPr sz="1200" dirty="0"/>
              <a:t> · $167.8K </a:t>
            </a:r>
            <a:r>
              <a:rPr sz="1200" dirty="0" err="1"/>
              <a:t>totales</a:t>
            </a:r>
            <a:r>
              <a:rPr sz="1200" dirty="0"/>
              <a:t> · 52% de las </a:t>
            </a:r>
            <a:r>
              <a:rPr sz="1200" dirty="0" err="1"/>
              <a:t>ventas</a:t>
            </a:r>
            <a:endParaRPr sz="1200" dirty="0"/>
          </a:p>
        </p:txBody>
      </p:sp>
      <p:sp>
        <p:nvSpPr>
          <p:cNvPr id="10" name="Rectangle 9"/>
          <p:cNvSpPr/>
          <p:nvPr/>
        </p:nvSpPr>
        <p:spPr>
          <a:xfrm>
            <a:off x="6400800" y="1444752"/>
            <a:ext cx="4937760" cy="1728216"/>
          </a:xfrm>
          <a:prstGeom prst="rect">
            <a:avLst/>
          </a:prstGeom>
          <a:solidFill>
            <a:srgbClr val="F2EEE4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444752"/>
            <a:ext cx="493776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572768"/>
            <a:ext cx="5029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600" b="1" i="0">
                <a:solidFill>
                  <a:srgbClr val="648C6E"/>
                </a:solidFill>
                <a:latin typeface="Calibri"/>
              </a:defRPr>
            </a:pPr>
            <a:r>
              <a:rPr dirty="0">
                <a:solidFill>
                  <a:srgbClr val="0070C0"/>
                </a:solidFill>
              </a:rPr>
              <a:t>$311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42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C30"/>
                </a:solidFill>
                <a:latin typeface="Calibri"/>
              </a:defRPr>
            </a:pPr>
            <a:r>
              <a:t>ticket prom. · Hombres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8036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28076"/>
                </a:solidFill>
                <a:latin typeface="Calibri"/>
              </a:defRPr>
            </a:pPr>
            <a:r>
              <a:rPr sz="1200" dirty="0"/>
              <a:t>499 </a:t>
            </a:r>
            <a:r>
              <a:rPr sz="1200" dirty="0" err="1"/>
              <a:t>transacciones</a:t>
            </a:r>
            <a:r>
              <a:rPr sz="1200" dirty="0"/>
              <a:t> · $155.1K </a:t>
            </a:r>
            <a:r>
              <a:rPr sz="1200" dirty="0" err="1"/>
              <a:t>totales</a:t>
            </a:r>
            <a:r>
              <a:rPr sz="1200" dirty="0"/>
              <a:t> · 48% de las </a:t>
            </a:r>
            <a:r>
              <a:rPr sz="1200" dirty="0" err="1"/>
              <a:t>ventas</a:t>
            </a:r>
            <a:endParaRPr sz="1200" dirty="0"/>
          </a:p>
        </p:txBody>
      </p:sp>
      <p:sp>
        <p:nvSpPr>
          <p:cNvPr id="15" name="Rectangle 14"/>
          <p:cNvSpPr/>
          <p:nvPr/>
        </p:nvSpPr>
        <p:spPr>
          <a:xfrm>
            <a:off x="548640" y="3447288"/>
            <a:ext cx="11064240" cy="658368"/>
          </a:xfrm>
          <a:prstGeom prst="rect">
            <a:avLst/>
          </a:prstGeom>
          <a:solidFill>
            <a:srgbClr val="1E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3480" y="3602736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Insight: En Health &amp; Beauty, </a:t>
            </a:r>
            <a:r>
              <a:rPr dirty="0" err="1"/>
              <a:t>los</a:t>
            </a:r>
            <a:r>
              <a:rPr dirty="0"/>
              <a:t> hombres </a:t>
            </a:r>
            <a:r>
              <a:rPr dirty="0" err="1"/>
              <a:t>gastan</a:t>
            </a:r>
            <a:r>
              <a:rPr dirty="0"/>
              <a:t> un 65%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las </a:t>
            </a:r>
            <a:r>
              <a:rPr dirty="0" err="1"/>
              <a:t>mujeres</a:t>
            </a:r>
            <a:r>
              <a:rPr dirty="0"/>
              <a:t> — la mayor </a:t>
            </a:r>
            <a:r>
              <a:rPr dirty="0" err="1"/>
              <a:t>brecha</a:t>
            </a:r>
            <a:r>
              <a:rPr dirty="0"/>
              <a:t> de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dataset.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1104"/>
            <a:ext cx="11064240" cy="2002536"/>
          </a:xfrm>
          <a:prstGeom prst="roundRect">
            <a:avLst/>
          </a:prstGeom>
          <a:solidFill>
            <a:srgbClr val="EAEEE8"/>
          </a:solidFill>
          <a:ln w="15240">
            <a:solidFill>
              <a:srgbClr val="AAB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828076"/>
                </a:solidFill>
                <a:latin typeface="Calibri"/>
              </a:defRPr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28076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  <p:graphicFrame>
        <p:nvGraphicFramePr>
          <p:cNvPr id="19" name="Gráfico 18">
            <a:extLst>
              <a:ext uri="{FF2B5EF4-FFF2-40B4-BE49-F238E27FC236}">
                <a16:creationId xmlns:a16="http://schemas.microsoft.com/office/drawing/2014/main" id="{4CFB5E2D-E3B2-BF8D-09B4-26FC330596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3196516"/>
              </p:ext>
            </p:extLst>
          </p:nvPr>
        </p:nvGraphicFramePr>
        <p:xfrm>
          <a:off x="777240" y="4379976"/>
          <a:ext cx="10515601" cy="1808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E3C30"/>
                </a:solidFill>
                <a:latin typeface="Calibri"/>
              </a:defRPr>
            </a:pPr>
            <a:r>
              <a:t>El Ritmo del 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28076"/>
                </a:solidFill>
                <a:latin typeface="Calibri"/>
              </a:defRPr>
            </a:pPr>
            <a:r>
              <a:t>¿En qué momentos se concentran las ventas?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44752"/>
            <a:ext cx="7132320" cy="4800600"/>
          </a:xfrm>
          <a:prstGeom prst="roundRect">
            <a:avLst/>
          </a:prstGeom>
          <a:solidFill>
            <a:srgbClr val="EAEEE8"/>
          </a:solidFill>
          <a:ln w="15240">
            <a:solidFill>
              <a:srgbClr val="AAB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828076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7863840" y="1444752"/>
            <a:ext cx="3749039" cy="4800600"/>
          </a:xfrm>
          <a:prstGeom prst="rect">
            <a:avLst/>
          </a:prstGeom>
          <a:solidFill>
            <a:srgbClr val="1E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63840" y="1444752"/>
            <a:ext cx="3749039" cy="54864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5727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B25A37"/>
                </a:solidFill>
                <a:latin typeface="Calibri"/>
              </a:defRPr>
            </a:pPr>
            <a:r>
              <a:t>DOS PICOS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93392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13:00 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146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4D2B9"/>
                </a:solidFill>
                <a:latin typeface="Calibri"/>
              </a:defRPr>
            </a:pPr>
            <a:r>
              <a:t>$34.7K · 103 transacciones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971800"/>
            <a:ext cx="3017520" cy="36576"/>
          </a:xfrm>
          <a:prstGeom prst="rect">
            <a:avLst/>
          </a:prstGeom>
          <a:solidFill>
            <a:srgbClr val="50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31089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B25A37"/>
                </a:solidFill>
                <a:latin typeface="Calibri"/>
              </a:defRPr>
            </a:pPr>
            <a:r>
              <a:t>19:00 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6301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4D2B9"/>
                </a:solidFill>
                <a:latin typeface="Calibri"/>
              </a:defRPr>
            </a:pPr>
            <a:r>
              <a:t>$39.7K · 113 transacciones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4096512"/>
            <a:ext cx="3017520" cy="36576"/>
          </a:xfrm>
          <a:prstGeom prst="rect">
            <a:avLst/>
          </a:prstGeom>
          <a:solidFill>
            <a:srgbClr val="50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224528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ED7C0"/>
                </a:solidFill>
                <a:latin typeface="Calibri"/>
              </a:defRPr>
            </a:pPr>
            <a:r>
              <a:rPr lang="es-UY" dirty="0"/>
              <a:t>Ventas mínimas</a:t>
            </a:r>
            <a:r>
              <a:rPr dirty="0"/>
              <a:t>: 16h, 17h y 20h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debajo</a:t>
            </a:r>
            <a:r>
              <a:rPr dirty="0"/>
              <a:t> del </a:t>
            </a:r>
            <a:r>
              <a:rPr dirty="0" err="1"/>
              <a:t>promedio</a:t>
            </a:r>
            <a:r>
              <a:rPr dirty="0"/>
              <a:t>. </a:t>
            </a:r>
            <a:r>
              <a:rPr dirty="0" err="1"/>
              <a:t>Oportunidad</a:t>
            </a:r>
            <a:r>
              <a:rPr dirty="0"/>
              <a:t> para </a:t>
            </a:r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tráfico</a:t>
            </a:r>
            <a:r>
              <a:rPr dirty="0"/>
              <a:t> con </a:t>
            </a:r>
            <a:r>
              <a:rPr dirty="0" err="1"/>
              <a:t>ofertas</a:t>
            </a:r>
            <a:r>
              <a:rPr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28076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CCDEDE4C-FCB6-E82B-83EF-D4AA2CAE14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1778801"/>
              </p:ext>
            </p:extLst>
          </p:nvPr>
        </p:nvGraphicFramePr>
        <p:xfrm>
          <a:off x="617220" y="1834769"/>
          <a:ext cx="7132320" cy="3828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E3C30"/>
                </a:solidFill>
                <a:latin typeface="Calibri"/>
              </a:defRPr>
            </a:pPr>
            <a:r>
              <a:t>Desempeño del Portafolio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28076"/>
                </a:solidFill>
                <a:latin typeface="Calibri"/>
              </a:defRPr>
            </a:pPr>
            <a:r>
              <a:t>¿Qué categorías generan más ingresos?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44752"/>
            <a:ext cx="6766560" cy="4800600"/>
          </a:xfrm>
          <a:prstGeom prst="roundRect">
            <a:avLst/>
          </a:prstGeom>
          <a:solidFill>
            <a:srgbClr val="EAEEE8"/>
          </a:solidFill>
          <a:ln w="15240">
            <a:solidFill>
              <a:srgbClr val="AAB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828076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7498079" y="1444752"/>
            <a:ext cx="4114800" cy="4800600"/>
          </a:xfrm>
          <a:prstGeom prst="rect">
            <a:avLst/>
          </a:prstGeom>
          <a:solidFill>
            <a:srgbClr val="F2EEE4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0" y="15727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B25A37"/>
                </a:solidFill>
                <a:latin typeface="Calibri"/>
              </a:defRPr>
            </a:pPr>
            <a:r>
              <a:t>RANKING DE INGRESOS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749039" cy="566928"/>
          </a:xfrm>
          <a:prstGeom prst="rect">
            <a:avLst/>
          </a:prstGeom>
          <a:solidFill>
            <a:srgbClr val="F2E4DA"/>
          </a:solidFill>
          <a:ln w="10160">
            <a:solidFill>
              <a:srgbClr val="B2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2039112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2807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203911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3C30"/>
                </a:solidFill>
                <a:latin typeface="Calibri"/>
              </a:defRPr>
            </a:pPr>
            <a:r>
              <a:t>Food &amp; Beverages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039112"/>
            <a:ext cx="1051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B25A37"/>
                </a:solidFill>
                <a:latin typeface="Calibri"/>
              </a:defRPr>
            </a:pPr>
            <a:r>
              <a:t>$56.1K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2624328"/>
            <a:ext cx="3749039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269748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2807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69748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3C30"/>
                </a:solidFill>
                <a:latin typeface="Calibri"/>
              </a:defRPr>
            </a:pPr>
            <a:r>
              <a:t>Sports &amp; Travel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697480"/>
            <a:ext cx="1051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191916"/>
                </a:solidFill>
                <a:latin typeface="Calibri"/>
              </a:defRPr>
            </a:pPr>
            <a:r>
              <a:t>$55.1K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3282696"/>
            <a:ext cx="3749039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79" y="3355848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2807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335584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3C30"/>
                </a:solidFill>
                <a:latin typeface="Calibri"/>
              </a:defRPr>
            </a:pPr>
            <a:r>
              <a:t>Electronic Acc.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355848"/>
            <a:ext cx="1051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191916"/>
                </a:solidFill>
                <a:latin typeface="Calibri"/>
              </a:defRPr>
            </a:pPr>
            <a:r>
              <a:t>$54.3K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941064"/>
            <a:ext cx="3749039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79" y="4014216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2807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401421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3C30"/>
                </a:solidFill>
                <a:latin typeface="Calibri"/>
              </a:defRPr>
            </a:pPr>
            <a:r>
              <a:t>Fashion Acc.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014216"/>
            <a:ext cx="1051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191916"/>
                </a:solidFill>
                <a:latin typeface="Calibri"/>
              </a:defRPr>
            </a:pPr>
            <a:r>
              <a:t>$54.3K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4599431"/>
            <a:ext cx="3749039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4672583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2807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4672583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3C30"/>
                </a:solidFill>
                <a:latin typeface="Calibri"/>
              </a:defRPr>
            </a:pPr>
            <a:r>
              <a:t>Home &amp; Lifestyle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672583"/>
            <a:ext cx="1051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191916"/>
                </a:solidFill>
                <a:latin typeface="Calibri"/>
              </a:defRPr>
            </a:pPr>
            <a:r>
              <a:t>$53.9K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5257800"/>
            <a:ext cx="3749039" cy="566928"/>
          </a:xfrm>
          <a:prstGeom prst="rect">
            <a:avLst/>
          </a:prstGeom>
          <a:solidFill>
            <a:srgbClr val="F2E4DA"/>
          </a:solidFill>
          <a:ln w="10160">
            <a:solidFill>
              <a:srgbClr val="B2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5330952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2807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53309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3C30"/>
                </a:solidFill>
                <a:latin typeface="Calibri"/>
              </a:defRPr>
            </a:pPr>
            <a:r>
              <a:t>Health &amp; Beauty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5330952"/>
            <a:ext cx="1051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B25A37"/>
                </a:solidFill>
                <a:latin typeface="Calibri"/>
              </a:defRPr>
            </a:pPr>
            <a:r>
              <a:t>$49.1K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28076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  <p:graphicFrame>
        <p:nvGraphicFramePr>
          <p:cNvPr id="33" name="Gráfico 32">
            <a:extLst>
              <a:ext uri="{FF2B5EF4-FFF2-40B4-BE49-F238E27FC236}">
                <a16:creationId xmlns:a16="http://schemas.microsoft.com/office/drawing/2014/main" id="{7AE74936-928D-0D9F-7ECC-62D1BEA320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203251"/>
              </p:ext>
            </p:extLst>
          </p:nvPr>
        </p:nvGraphicFramePr>
        <p:xfrm>
          <a:off x="617219" y="1491548"/>
          <a:ext cx="72390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4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E3C30"/>
                </a:solidFill>
                <a:latin typeface="Calibri"/>
              </a:defRPr>
            </a:pPr>
            <a:r>
              <a:t>Productos por Género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28076"/>
                </a:solidFill>
                <a:latin typeface="Calibri"/>
              </a:defRPr>
            </a:pPr>
            <a:r>
              <a:t>¿Qué compra cada género por categoría?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44752"/>
            <a:ext cx="11064240" cy="2834640"/>
          </a:xfrm>
          <a:prstGeom prst="roundRect">
            <a:avLst/>
          </a:prstGeom>
          <a:solidFill>
            <a:srgbClr val="EAEEE8"/>
          </a:solidFill>
          <a:ln w="15240">
            <a:solidFill>
              <a:srgbClr val="AAB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828076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48640" y="4462272"/>
            <a:ext cx="260604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462272"/>
            <a:ext cx="2606040" cy="54864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55371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3C30"/>
                </a:solidFill>
                <a:latin typeface="Calibri"/>
              </a:defRPr>
            </a:pPr>
            <a:r>
              <a:rPr sz="1400" dirty="0"/>
              <a:t>Health &amp; Beauty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1947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25A37"/>
                </a:solidFill>
                <a:latin typeface="Calibri"/>
              </a:defRPr>
            </a:pPr>
            <a:r>
              <a:rPr sz="1400" dirty="0">
                <a:solidFill>
                  <a:srgbClr val="0070C0"/>
                </a:solidFill>
              </a:rPr>
              <a:t>Hombres 62.3%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578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48C6E"/>
                </a:solidFill>
                <a:latin typeface="Calibri"/>
              </a:defRPr>
            </a:pPr>
            <a:r>
              <a:rPr sz="1400" dirty="0">
                <a:solidFill>
                  <a:srgbClr val="B25A37"/>
                </a:solidFill>
              </a:rPr>
              <a:t>Mujeres 37.7%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462272"/>
            <a:ext cx="260604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4462272"/>
            <a:ext cx="2606040" cy="54864"/>
          </a:xfrm>
          <a:prstGeom prst="rect">
            <a:avLst/>
          </a:prstGeom>
          <a:solidFill>
            <a:srgbClr val="64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455371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3C30"/>
                </a:solidFill>
                <a:latin typeface="Calibri"/>
              </a:defRPr>
            </a:pPr>
            <a:r>
              <a:rPr sz="1400" dirty="0"/>
              <a:t>Food &amp; Beverages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91947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48C6E"/>
                </a:solidFill>
                <a:latin typeface="Calibri"/>
              </a:defRPr>
            </a:pPr>
            <a:r>
              <a:rPr sz="1400" dirty="0">
                <a:solidFill>
                  <a:srgbClr val="B25A37"/>
                </a:solidFill>
              </a:rPr>
              <a:t>Mujeres 59.1%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52578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25A37"/>
                </a:solidFill>
                <a:latin typeface="Calibri"/>
              </a:defRPr>
            </a:pPr>
            <a:r>
              <a:rPr sz="1400" dirty="0">
                <a:solidFill>
                  <a:srgbClr val="0070C0"/>
                </a:solidFill>
              </a:rPr>
              <a:t>Hombres 40.9%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462272"/>
            <a:ext cx="260604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4462272"/>
            <a:ext cx="2606040" cy="54864"/>
          </a:xfrm>
          <a:prstGeom prst="rect">
            <a:avLst/>
          </a:prstGeom>
          <a:solidFill>
            <a:srgbClr val="64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55371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3C30"/>
                </a:solidFill>
                <a:latin typeface="Calibri"/>
              </a:defRPr>
            </a:pPr>
            <a:r>
              <a:rPr sz="1400" dirty="0"/>
              <a:t>Fashion Acc.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91947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48C6E"/>
                </a:solidFill>
                <a:latin typeface="Calibri"/>
              </a:defRPr>
            </a:pPr>
            <a:r>
              <a:rPr sz="1400" dirty="0">
                <a:solidFill>
                  <a:srgbClr val="B25A37"/>
                </a:solidFill>
              </a:rPr>
              <a:t>Mujeres 56.0%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2578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25A37"/>
                </a:solidFill>
                <a:latin typeface="Calibri"/>
              </a:defRPr>
            </a:pPr>
            <a:r>
              <a:rPr sz="1400" dirty="0">
                <a:solidFill>
                  <a:srgbClr val="0070C0"/>
                </a:solidFill>
              </a:rPr>
              <a:t>Hombres 44.0%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4462272"/>
            <a:ext cx="260604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4462272"/>
            <a:ext cx="2606040" cy="54864"/>
          </a:xfrm>
          <a:prstGeom prst="rect">
            <a:avLst/>
          </a:prstGeom>
          <a:solidFill>
            <a:srgbClr val="82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455371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3C30"/>
                </a:solidFill>
                <a:latin typeface="Calibri"/>
              </a:defRPr>
            </a:pPr>
            <a:r>
              <a:rPr sz="1400" dirty="0"/>
              <a:t>Electronic Acc.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91947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28076"/>
                </a:solidFill>
                <a:latin typeface="Calibri"/>
              </a:defRPr>
            </a:pPr>
            <a:r>
              <a:rPr sz="1400" dirty="0"/>
              <a:t>Casi </a:t>
            </a:r>
            <a:r>
              <a:rPr sz="1400" dirty="0" err="1"/>
              <a:t>igualado</a:t>
            </a:r>
            <a:endParaRPr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9189720" y="52578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28076"/>
                </a:solidFill>
                <a:latin typeface="Calibri"/>
              </a:defRPr>
            </a:pPr>
            <a:r>
              <a:rPr sz="1400" dirty="0"/>
              <a:t>50% / 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28076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  <p:graphicFrame>
        <p:nvGraphicFramePr>
          <p:cNvPr id="30" name="Gráfico 29">
            <a:extLst>
              <a:ext uri="{FF2B5EF4-FFF2-40B4-BE49-F238E27FC236}">
                <a16:creationId xmlns:a16="http://schemas.microsoft.com/office/drawing/2014/main" id="{F45C9569-2238-09E3-BDD6-2072435EFA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4287958"/>
              </p:ext>
            </p:extLst>
          </p:nvPr>
        </p:nvGraphicFramePr>
        <p:xfrm>
          <a:off x="533400" y="1380524"/>
          <a:ext cx="11125199" cy="3127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E3C30"/>
                </a:solidFill>
                <a:latin typeface="Calibri"/>
              </a:defRPr>
            </a:pPr>
            <a:r>
              <a:t>Performance por Sucursal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28076"/>
                </a:solidFill>
                <a:latin typeface="Calibri"/>
              </a:defRPr>
            </a:pPr>
            <a:r>
              <a:t>¿Cómo se desempeña cada sucursal?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57600" cy="64008"/>
          </a:xfrm>
          <a:prstGeom prst="rect">
            <a:avLst/>
          </a:prstGeom>
          <a:solidFill>
            <a:srgbClr val="1E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337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C30"/>
                </a:solidFill>
                <a:latin typeface="Calibri"/>
              </a:defRPr>
            </a:pPr>
            <a:r>
              <a:rPr sz="1600" dirty="0"/>
              <a:t>A · Yangon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1E3C30"/>
                </a:solidFill>
                <a:latin typeface="Calibri"/>
              </a:defRPr>
            </a:pPr>
            <a:r>
              <a:t>$106.2K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337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28076"/>
                </a:solidFill>
                <a:latin typeface="Calibri"/>
              </a:defRPr>
            </a:pPr>
            <a:r>
              <a:rPr sz="1400" dirty="0"/>
              <a:t>340 </a:t>
            </a:r>
            <a:r>
              <a:rPr sz="1400" dirty="0" err="1"/>
              <a:t>transacciones</a:t>
            </a:r>
            <a:r>
              <a:rPr sz="1400" dirty="0"/>
              <a:t> · ticket $312 · rating 7.0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337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91916"/>
                </a:solidFill>
                <a:latin typeface="Calibri"/>
              </a:defRPr>
            </a:pPr>
            <a:r>
              <a:rPr sz="1400" b="1" dirty="0"/>
              <a:t>Mayor </a:t>
            </a:r>
            <a:r>
              <a:rPr sz="1400" b="1" dirty="0" err="1"/>
              <a:t>volumen</a:t>
            </a:r>
            <a:r>
              <a:rPr sz="1400" b="1" dirty="0"/>
              <a:t>, </a:t>
            </a:r>
            <a:r>
              <a:rPr sz="1400" b="1" dirty="0" err="1"/>
              <a:t>menor</a:t>
            </a:r>
            <a:r>
              <a:rPr sz="1400" b="1" dirty="0"/>
              <a:t> ticket. </a:t>
            </a:r>
            <a:r>
              <a:rPr sz="1400" dirty="0" err="1"/>
              <a:t>Lidera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Home &amp; Lifestyle.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365760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3657600" cy="6400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536192"/>
            <a:ext cx="3337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C30"/>
                </a:solidFill>
                <a:latin typeface="Calibri"/>
              </a:defRPr>
            </a:pPr>
            <a:r>
              <a:rPr sz="1600" dirty="0"/>
              <a:t>C · Naypyitaw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B25A37"/>
                </a:solidFill>
                <a:latin typeface="Calibri"/>
              </a:defRPr>
            </a:pPr>
            <a:r>
              <a:t>$110.6K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3337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28076"/>
                </a:solidFill>
                <a:latin typeface="Calibri"/>
              </a:defRPr>
            </a:pPr>
            <a:r>
              <a:rPr sz="1400" dirty="0"/>
              <a:t>328 </a:t>
            </a:r>
            <a:r>
              <a:rPr sz="1400" dirty="0" err="1"/>
              <a:t>transacciones</a:t>
            </a:r>
            <a:r>
              <a:rPr sz="1400" dirty="0"/>
              <a:t> · ticket $337 · rating 7.1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17520"/>
            <a:ext cx="3337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91916"/>
                </a:solidFill>
                <a:latin typeface="Calibri"/>
              </a:defRPr>
            </a:pPr>
            <a:r>
              <a:rPr sz="1400" b="1" dirty="0"/>
              <a:t>Menor </a:t>
            </a:r>
            <a:r>
              <a:rPr sz="1400" b="1" dirty="0" err="1"/>
              <a:t>volumen</a:t>
            </a:r>
            <a:r>
              <a:rPr sz="1400" b="1" dirty="0"/>
              <a:t> </a:t>
            </a:r>
            <a:r>
              <a:rPr sz="1400" b="1" dirty="0" err="1"/>
              <a:t>pero</a:t>
            </a:r>
            <a:r>
              <a:rPr sz="1400" b="1" dirty="0"/>
              <a:t> mayor ticket </a:t>
            </a:r>
            <a:r>
              <a:rPr sz="1400" dirty="0"/>
              <a:t>y </a:t>
            </a:r>
            <a:r>
              <a:rPr sz="1400" dirty="0" err="1"/>
              <a:t>mejor</a:t>
            </a:r>
            <a:r>
              <a:rPr sz="1400" dirty="0"/>
              <a:t> </a:t>
            </a:r>
            <a:r>
              <a:rPr sz="1400" dirty="0" err="1"/>
              <a:t>satisfacción</a:t>
            </a:r>
            <a:r>
              <a:rPr sz="1400"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417320"/>
            <a:ext cx="365760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1417320"/>
            <a:ext cx="3657600" cy="64008"/>
          </a:xfrm>
          <a:prstGeom prst="rect">
            <a:avLst/>
          </a:prstGeom>
          <a:solidFill>
            <a:srgbClr val="64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19" y="1536192"/>
            <a:ext cx="3337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C30"/>
                </a:solidFill>
                <a:latin typeface="Calibri"/>
              </a:defRPr>
            </a:pPr>
            <a:r>
              <a:rPr sz="1600" dirty="0"/>
              <a:t>B · Mandalay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1920240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648C6E"/>
                </a:solidFill>
                <a:latin typeface="Calibri"/>
              </a:defRPr>
            </a:pPr>
            <a:r>
              <a:rPr dirty="0"/>
              <a:t>$106.2K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651760"/>
            <a:ext cx="3337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28076"/>
                </a:solidFill>
                <a:latin typeface="Calibri"/>
              </a:defRPr>
            </a:pPr>
            <a:r>
              <a:rPr sz="1400" dirty="0"/>
              <a:t>332 </a:t>
            </a:r>
            <a:r>
              <a:rPr sz="1400" dirty="0" err="1"/>
              <a:t>transacciones</a:t>
            </a:r>
            <a:r>
              <a:rPr sz="1400" dirty="0"/>
              <a:t> · ticket $320 · rating 6.8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3017520"/>
            <a:ext cx="3337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91916"/>
                </a:solidFill>
                <a:latin typeface="Calibri"/>
              </a:defRPr>
            </a:pPr>
            <a:r>
              <a:rPr sz="1400" dirty="0" err="1"/>
              <a:t>Lidera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Health &amp; Beauty. Rating </a:t>
            </a:r>
            <a:r>
              <a:rPr sz="1400" dirty="0" err="1"/>
              <a:t>más</a:t>
            </a:r>
            <a:r>
              <a:rPr sz="1400" dirty="0"/>
              <a:t> bajo: </a:t>
            </a:r>
            <a:r>
              <a:rPr sz="1400" dirty="0" err="1"/>
              <a:t>oportunidad</a:t>
            </a:r>
            <a:r>
              <a:rPr sz="1400" dirty="0"/>
              <a:t> de </a:t>
            </a:r>
            <a:r>
              <a:rPr sz="1400" dirty="0" err="1"/>
              <a:t>mejora</a:t>
            </a:r>
            <a:r>
              <a:rPr sz="1400" dirty="0"/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64240" cy="2011680"/>
          </a:xfrm>
          <a:prstGeom prst="roundRect">
            <a:avLst/>
          </a:prstGeom>
          <a:solidFill>
            <a:srgbClr val="EAEEE8"/>
          </a:solidFill>
          <a:ln w="15240">
            <a:solidFill>
              <a:srgbClr val="AAB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828076"/>
                </a:solidFill>
                <a:latin typeface="Calibri"/>
              </a:defRPr>
            </a:pP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28076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  <p:graphicFrame>
        <p:nvGraphicFramePr>
          <p:cNvPr id="25" name="Gráfico 24">
            <a:extLst>
              <a:ext uri="{FF2B5EF4-FFF2-40B4-BE49-F238E27FC236}">
                <a16:creationId xmlns:a16="http://schemas.microsoft.com/office/drawing/2014/main" id="{F21D9F83-00AA-76CD-4D76-10838FDE0F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5503543"/>
              </p:ext>
            </p:extLst>
          </p:nvPr>
        </p:nvGraphicFramePr>
        <p:xfrm>
          <a:off x="1178112" y="4288536"/>
          <a:ext cx="9530976" cy="1947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E3C30"/>
                </a:solidFill>
                <a:latin typeface="Calibri"/>
              </a:defRPr>
            </a:pPr>
            <a:r>
              <a:t>Propuesta de Campañas de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28076"/>
                </a:solidFill>
                <a:latin typeface="Calibri"/>
              </a:defRPr>
            </a:pPr>
            <a:r>
              <a:t>Una acción concreta por mes, fundamentada en los datos del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44752"/>
            <a:ext cx="3657600" cy="5212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44752"/>
            <a:ext cx="3657600" cy="914400"/>
          </a:xfrm>
          <a:prstGeom prst="rect">
            <a:avLst/>
          </a:prstGeom>
          <a:solidFill>
            <a:srgbClr val="1E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sz="2000" dirty="0"/>
              <a:t>MES 1 · ENERO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3C30"/>
                </a:solidFill>
                <a:latin typeface="Calibri"/>
              </a:defRPr>
            </a:pPr>
            <a:r>
              <a:rPr sz="1600" dirty="0"/>
              <a:t>FOCO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52927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dirty="0"/>
              <a:t>Food &amp; Beverages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3C30"/>
                </a:solidFill>
                <a:latin typeface="Calibri"/>
              </a:defRPr>
            </a:pPr>
            <a:r>
              <a:rPr lang="es-419" sz="1600" dirty="0"/>
              <a:t>PUBLICO OBJETIVO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" y="3858768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dirty="0"/>
              <a:t>Mujeres — Naypyitaw y Yangon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3C30"/>
                </a:solidFill>
                <a:latin typeface="Calibri"/>
              </a:defRPr>
            </a:pPr>
            <a:r>
              <a:rPr sz="1600" dirty="0"/>
              <a:t>TÁCTICA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64608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lang="es-419" sz="1400" dirty="0"/>
              <a:t>Promover d</a:t>
            </a:r>
            <a:r>
              <a:rPr sz="1400" dirty="0" err="1"/>
              <a:t>egustaciones</a:t>
            </a:r>
            <a:r>
              <a:rPr sz="1400" dirty="0"/>
              <a:t> y combos </a:t>
            </a:r>
            <a:r>
              <a:rPr sz="1400" dirty="0" err="1"/>
              <a:t>familiares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los</a:t>
            </a:r>
            <a:r>
              <a:rPr sz="1400" dirty="0"/>
              <a:t> </a:t>
            </a:r>
            <a:r>
              <a:rPr sz="1400" b="1" dirty="0" err="1"/>
              <a:t>picos</a:t>
            </a:r>
            <a:r>
              <a:rPr sz="1400" b="1" dirty="0"/>
              <a:t> de 13h y 19h</a:t>
            </a:r>
            <a:r>
              <a:rPr sz="1400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3C30"/>
                </a:solidFill>
                <a:latin typeface="Calibri"/>
              </a:defRPr>
            </a:pPr>
            <a:r>
              <a:rPr sz="1600" dirty="0"/>
              <a:t>POR QUÉ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70448"/>
            <a:ext cx="3383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dirty="0" err="1"/>
              <a:t>Enero</a:t>
            </a:r>
            <a:r>
              <a:rPr sz="1400" dirty="0"/>
              <a:t> es </a:t>
            </a:r>
            <a:r>
              <a:rPr sz="1400" dirty="0" err="1"/>
              <a:t>el</a:t>
            </a:r>
            <a:r>
              <a:rPr sz="1400" dirty="0"/>
              <a:t> </a:t>
            </a:r>
            <a:r>
              <a:rPr sz="1400" dirty="0" err="1"/>
              <a:t>mejor</a:t>
            </a:r>
            <a:r>
              <a:rPr sz="1400" dirty="0"/>
              <a:t> </a:t>
            </a:r>
            <a:r>
              <a:rPr sz="1400" dirty="0" err="1"/>
              <a:t>mes</a:t>
            </a:r>
            <a:r>
              <a:rPr sz="1400" dirty="0"/>
              <a:t> ($116K). Mujeres </a:t>
            </a:r>
            <a:r>
              <a:rPr sz="1400" dirty="0" err="1"/>
              <a:t>dominan</a:t>
            </a:r>
            <a:r>
              <a:rPr sz="1400" dirty="0"/>
              <a:t> </a:t>
            </a:r>
            <a:r>
              <a:rPr sz="1400" dirty="0" err="1"/>
              <a:t>esta</a:t>
            </a:r>
            <a:r>
              <a:rPr sz="1400" dirty="0"/>
              <a:t> </a:t>
            </a:r>
            <a:r>
              <a:rPr sz="1400" dirty="0" err="1"/>
              <a:t>categoría</a:t>
            </a:r>
            <a:r>
              <a:rPr sz="1400" dirty="0"/>
              <a:t> (+44%). Naypyitaw </a:t>
            </a:r>
            <a:r>
              <a:rPr sz="1400" dirty="0" err="1"/>
              <a:t>lidera</a:t>
            </a:r>
            <a:r>
              <a:rPr sz="1400" dirty="0"/>
              <a:t> </a:t>
            </a:r>
            <a:r>
              <a:rPr sz="1400" dirty="0" err="1"/>
              <a:t>el</a:t>
            </a:r>
            <a:r>
              <a:rPr sz="1400" dirty="0"/>
              <a:t> </a:t>
            </a:r>
            <a:r>
              <a:rPr sz="1400" dirty="0" err="1"/>
              <a:t>mes</a:t>
            </a:r>
            <a:r>
              <a:rPr sz="1400"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444752"/>
            <a:ext cx="3657600" cy="5212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1444752"/>
            <a:ext cx="3657600" cy="914400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150876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sz="2000" dirty="0"/>
              <a:t>MES 2 · FEBRERO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56032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B25A37"/>
                </a:solidFill>
                <a:latin typeface="Calibri"/>
              </a:defRPr>
            </a:pPr>
            <a:r>
              <a:rPr sz="1600" dirty="0"/>
              <a:t>FOCO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4526280" y="2852927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dirty="0"/>
              <a:t>Health &amp; Beauty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56616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B25A37"/>
                </a:solidFill>
                <a:latin typeface="Calibri"/>
              </a:defRPr>
            </a:pPr>
            <a:r>
              <a:rPr lang="es-419" sz="1600" dirty="0"/>
              <a:t>PUBLICO OBJETIVO</a:t>
            </a:r>
            <a:endParaRPr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4526280" y="3858768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dirty="0"/>
              <a:t>Hombres — Mandalay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7200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B25A37"/>
                </a:solidFill>
                <a:latin typeface="Calibri"/>
              </a:defRPr>
            </a:pPr>
            <a:r>
              <a:rPr sz="1600" dirty="0"/>
              <a:t>TÁCTICA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864608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dirty="0" err="1"/>
              <a:t>Comunicación</a:t>
            </a:r>
            <a:r>
              <a:rPr sz="1400" dirty="0"/>
              <a:t> y </a:t>
            </a:r>
            <a:r>
              <a:rPr sz="1400" dirty="0" err="1"/>
              <a:t>promociones</a:t>
            </a:r>
            <a:r>
              <a:rPr sz="1400" dirty="0"/>
              <a:t> </a:t>
            </a:r>
            <a:r>
              <a:rPr sz="1400" dirty="0" err="1"/>
              <a:t>pensadas</a:t>
            </a:r>
            <a:r>
              <a:rPr sz="1400" dirty="0"/>
              <a:t> </a:t>
            </a:r>
            <a:r>
              <a:rPr sz="1400" dirty="0" err="1"/>
              <a:t>exclusivamente</a:t>
            </a:r>
            <a:r>
              <a:rPr sz="1400" dirty="0"/>
              <a:t> para hombres.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57784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B25A37"/>
                </a:solidFill>
                <a:latin typeface="Calibri"/>
              </a:defRPr>
            </a:pPr>
            <a:r>
              <a:rPr sz="1600" dirty="0"/>
              <a:t>POR QUÉ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870448"/>
            <a:ext cx="3383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b="1" dirty="0" err="1"/>
              <a:t>Febrero</a:t>
            </a:r>
            <a:r>
              <a:rPr sz="1400" b="1" dirty="0"/>
              <a:t> es </a:t>
            </a:r>
            <a:r>
              <a:rPr sz="1400" b="1" dirty="0" err="1"/>
              <a:t>el</a:t>
            </a:r>
            <a:r>
              <a:rPr sz="1400" b="1" dirty="0"/>
              <a:t> </a:t>
            </a:r>
            <a:r>
              <a:rPr sz="1400" b="1" dirty="0" err="1"/>
              <a:t>mes</a:t>
            </a:r>
            <a:r>
              <a:rPr sz="1400" b="1" dirty="0"/>
              <a:t> </a:t>
            </a:r>
            <a:r>
              <a:rPr sz="1400" b="1" dirty="0" err="1"/>
              <a:t>más</a:t>
            </a:r>
            <a:r>
              <a:rPr sz="1400" b="1" dirty="0"/>
              <a:t> bajo </a:t>
            </a:r>
            <a:r>
              <a:rPr sz="1400" dirty="0"/>
              <a:t>($97K). La </a:t>
            </a:r>
            <a:r>
              <a:rPr sz="1400" dirty="0" err="1"/>
              <a:t>brecha</a:t>
            </a:r>
            <a:r>
              <a:rPr sz="1400" dirty="0"/>
              <a:t> </a:t>
            </a:r>
            <a:r>
              <a:rPr sz="1400" dirty="0" err="1"/>
              <a:t>masculina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H&amp;B es la mayor del dataset: 65%.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444752"/>
            <a:ext cx="3657600" cy="5212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1444752"/>
            <a:ext cx="3657600" cy="914400"/>
          </a:xfrm>
          <a:prstGeom prst="rect">
            <a:avLst/>
          </a:prstGeom>
          <a:solidFill>
            <a:srgbClr val="64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150876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93223"/>
                </a:solidFill>
                <a:latin typeface="Calibri"/>
              </a:defRPr>
            </a:pPr>
            <a:r>
              <a:rPr sz="2000" dirty="0"/>
              <a:t>MES 3 · MARZO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56032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48C6E"/>
                </a:solidFill>
                <a:latin typeface="Calibri"/>
              </a:defRPr>
            </a:pPr>
            <a:r>
              <a:rPr sz="1600" dirty="0"/>
              <a:t>FOCO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852927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dirty="0"/>
              <a:t>Home &amp; Lifestyle + Sports &amp; Travel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56616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48C6E"/>
                </a:solidFill>
                <a:latin typeface="Calibri"/>
              </a:defRPr>
            </a:pPr>
            <a:r>
              <a:rPr lang="es-419" sz="1600" dirty="0"/>
              <a:t>PUBLICO OBJETIVO</a:t>
            </a:r>
            <a:endParaRPr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8412480" y="3858768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dirty="0"/>
              <a:t>Público general — Yangon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57200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48C6E"/>
                </a:solidFill>
                <a:latin typeface="Calibri"/>
              </a:defRPr>
            </a:pPr>
            <a:r>
              <a:rPr sz="1600" dirty="0"/>
              <a:t>TÁCTICA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864608"/>
            <a:ext cx="3383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dirty="0"/>
              <a:t>Combos cruzados </a:t>
            </a:r>
            <a:r>
              <a:rPr sz="1400" dirty="0" err="1"/>
              <a:t>hogar</a:t>
            </a:r>
            <a:r>
              <a:rPr sz="1400" dirty="0"/>
              <a:t> + </a:t>
            </a:r>
            <a:r>
              <a:rPr sz="1400" dirty="0" err="1"/>
              <a:t>deporte</a:t>
            </a:r>
            <a:r>
              <a:rPr sz="1400" dirty="0"/>
              <a:t>. </a:t>
            </a:r>
            <a:r>
              <a:rPr sz="1400" dirty="0" err="1"/>
              <a:t>Aprovechar</a:t>
            </a:r>
            <a:r>
              <a:rPr sz="1400" dirty="0"/>
              <a:t> </a:t>
            </a:r>
            <a:r>
              <a:rPr sz="1400" dirty="0" err="1"/>
              <a:t>el</a:t>
            </a:r>
            <a:r>
              <a:rPr sz="1400" dirty="0"/>
              <a:t> ticket alto de Yangon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estas</a:t>
            </a:r>
            <a:r>
              <a:rPr sz="1400" dirty="0"/>
              <a:t> </a:t>
            </a:r>
            <a:r>
              <a:rPr sz="1400" dirty="0" err="1"/>
              <a:t>líneas</a:t>
            </a:r>
            <a:r>
              <a:rPr sz="1400" dirty="0"/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57784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48C6E"/>
                </a:solidFill>
                <a:latin typeface="Calibri"/>
              </a:defRPr>
            </a:pPr>
            <a:r>
              <a:rPr sz="1600" dirty="0"/>
              <a:t>POR QUÉ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870448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6"/>
                </a:solidFill>
                <a:latin typeface="Calibri"/>
              </a:defRPr>
            </a:pPr>
            <a:r>
              <a:rPr sz="1400" dirty="0"/>
              <a:t>Marzo antecede al </a:t>
            </a:r>
            <a:r>
              <a:rPr sz="1400" b="1" dirty="0"/>
              <a:t>Año Nuevo </a:t>
            </a:r>
            <a:r>
              <a:rPr sz="1400" b="1" dirty="0" err="1"/>
              <a:t>birmano</a:t>
            </a:r>
            <a:r>
              <a:rPr sz="1400" b="1" dirty="0"/>
              <a:t> </a:t>
            </a:r>
            <a:r>
              <a:rPr sz="1400" dirty="0"/>
              <a:t>(</a:t>
            </a:r>
            <a:r>
              <a:rPr sz="1400" dirty="0" err="1"/>
              <a:t>abril</a:t>
            </a:r>
            <a:r>
              <a:rPr sz="1400" dirty="0"/>
              <a:t>): las </a:t>
            </a:r>
            <a:r>
              <a:rPr sz="1400" dirty="0" err="1"/>
              <a:t>familias</a:t>
            </a:r>
            <a:r>
              <a:rPr sz="1400" dirty="0"/>
              <a:t> </a:t>
            </a:r>
            <a:r>
              <a:rPr sz="1400" dirty="0" err="1"/>
              <a:t>renuevan</a:t>
            </a:r>
            <a:r>
              <a:rPr sz="1400" dirty="0"/>
              <a:t> </a:t>
            </a:r>
            <a:r>
              <a:rPr sz="1400" dirty="0" err="1"/>
              <a:t>el</a:t>
            </a:r>
            <a:r>
              <a:rPr sz="1400" dirty="0"/>
              <a:t> </a:t>
            </a:r>
            <a:r>
              <a:rPr sz="1400" dirty="0" err="1"/>
              <a:t>hogar</a:t>
            </a:r>
            <a:r>
              <a:rPr sz="1400" dirty="0"/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28076"/>
                </a:solidFill>
                <a:latin typeface="Calibri"/>
              </a:defRPr>
            </a:pPr>
            <a:r>
              <a:rPr dirty="0" err="1"/>
              <a:t>Desafío</a:t>
            </a:r>
            <a:r>
              <a:t> 3  ·  Supermarket Sales  ·  Myanmar 2019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6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B25A37"/>
                </a:solidFill>
                <a:latin typeface="Calibri"/>
              </a:defRPr>
            </a:pPr>
            <a:r>
              <a:t>LO QUE NOS DICE LA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4114800" cy="54864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201168" cy="20116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rPr dirty="0"/>
              <a:t>La </a:t>
            </a:r>
            <a:r>
              <a:rPr dirty="0" err="1"/>
              <a:t>distribución</a:t>
            </a:r>
            <a:r>
              <a:rPr dirty="0"/>
              <a:t> entre </a:t>
            </a:r>
            <a:r>
              <a:rPr dirty="0" err="1"/>
              <a:t>géneros</a:t>
            </a:r>
            <a:r>
              <a:rPr dirty="0"/>
              <a:t>, </a:t>
            </a:r>
            <a:r>
              <a:rPr dirty="0" err="1"/>
              <a:t>sucursales</a:t>
            </a:r>
            <a:r>
              <a:rPr dirty="0"/>
              <a:t> y </a:t>
            </a:r>
            <a:r>
              <a:rPr dirty="0" err="1"/>
              <a:t>horarios</a:t>
            </a:r>
            <a:r>
              <a:rPr dirty="0"/>
              <a:t> es </a:t>
            </a:r>
            <a:r>
              <a:rPr dirty="0" err="1"/>
              <a:t>equilibrada</a:t>
            </a:r>
            <a:r>
              <a:rPr dirty="0"/>
              <a:t> — </a:t>
            </a:r>
            <a:r>
              <a:rPr dirty="0" err="1"/>
              <a:t>pero</a:t>
            </a:r>
            <a:r>
              <a:rPr dirty="0"/>
              <a:t> con </a:t>
            </a:r>
            <a:r>
              <a:rPr dirty="0" err="1"/>
              <a:t>brechas</a:t>
            </a:r>
            <a:r>
              <a:rPr dirty="0"/>
              <a:t>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accionables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64408"/>
            <a:ext cx="201168" cy="20116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172968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rPr dirty="0"/>
              <a:t>Health &amp; Beauty: </a:t>
            </a:r>
            <a:r>
              <a:rPr dirty="0" err="1"/>
              <a:t>los</a:t>
            </a:r>
            <a:r>
              <a:rPr dirty="0"/>
              <a:t> hombres </a:t>
            </a:r>
            <a:r>
              <a:rPr dirty="0" err="1"/>
              <a:t>gastan</a:t>
            </a:r>
            <a:r>
              <a:rPr dirty="0"/>
              <a:t> 65%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las </a:t>
            </a:r>
            <a:r>
              <a:rPr dirty="0" err="1"/>
              <a:t>mujeres</a:t>
            </a:r>
            <a:r>
              <a:rPr dirty="0"/>
              <a:t>. El mayor insight del dataset.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14215"/>
            <a:ext cx="201168" cy="20116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2277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rPr dirty="0"/>
              <a:t>Los </a:t>
            </a:r>
            <a:r>
              <a:rPr dirty="0" err="1"/>
              <a:t>picos</a:t>
            </a:r>
            <a:r>
              <a:rPr dirty="0"/>
              <a:t> de 13h y 19h </a:t>
            </a:r>
            <a:r>
              <a:rPr dirty="0" err="1"/>
              <a:t>deben</a:t>
            </a:r>
            <a:r>
              <a:rPr dirty="0"/>
              <a:t> ser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eje</a:t>
            </a:r>
            <a:r>
              <a:rPr dirty="0"/>
              <a:t> de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activación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sucursal</a:t>
            </a:r>
            <a:r>
              <a:rPr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64023"/>
            <a:ext cx="201168" cy="201168"/>
          </a:xfrm>
          <a:prstGeom prst="rect">
            <a:avLst/>
          </a:prstGeom>
          <a:solidFill>
            <a:srgbClr val="B2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672583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rPr dirty="0"/>
              <a:t>Naypyitaw factura </a:t>
            </a:r>
            <a:r>
              <a:rPr dirty="0" err="1"/>
              <a:t>más</a:t>
            </a:r>
            <a:r>
              <a:rPr dirty="0"/>
              <a:t> con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transacciones</a:t>
            </a:r>
            <a:r>
              <a:rPr dirty="0"/>
              <a:t>: </a:t>
            </a:r>
            <a:r>
              <a:rPr dirty="0" err="1"/>
              <a:t>prioridad</a:t>
            </a:r>
            <a:r>
              <a:rPr dirty="0"/>
              <a:t> para </a:t>
            </a:r>
            <a:r>
              <a:rPr dirty="0" err="1"/>
              <a:t>campañas</a:t>
            </a:r>
            <a:r>
              <a:rPr dirty="0"/>
              <a:t> de ticket alto.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4876C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799</Words>
  <Application>Microsoft Macintosh PowerPoint</Application>
  <PresentationFormat>Panorámica</PresentationFormat>
  <Paragraphs>144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Fernandez - INCO Soluciones</cp:lastModifiedBy>
  <cp:revision>13</cp:revision>
  <dcterms:created xsi:type="dcterms:W3CDTF">2013-01-27T09:14:16Z</dcterms:created>
  <dcterms:modified xsi:type="dcterms:W3CDTF">2026-02-24T00:11:15Z</dcterms:modified>
  <cp:category/>
</cp:coreProperties>
</file>