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1">
                <a:solidFill>
                  <a:srgbClr val="D4941A"/>
                </a:solidFill>
                <a:latin typeface="Calibri"/>
              </a:defRPr>
            </a:pPr>
            <a:r>
              <a:t>MYANMAR · 2019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200" b="1" i="0">
                <a:solidFill>
                  <a:srgbClr val="FFFFFF"/>
                </a:solidFill>
                <a:latin typeface="Calibri"/>
              </a:defRPr>
            </a:pPr>
            <a:r>
              <a:t>Supermarket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06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1">
                <a:solidFill>
                  <a:srgbClr val="AAC3E6"/>
                </a:solidFill>
                <a:latin typeface="Calibri"/>
              </a:defRPr>
            </a:pPr>
            <a:r>
              <a:t>Análisis de datos para 3 campañas de marketing mensuales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46120"/>
            <a:ext cx="4572000" cy="64008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3749039"/>
            <a:ext cx="3291840" cy="20116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749039"/>
            <a:ext cx="3291840" cy="64008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D4941A"/>
                </a:solidFill>
                <a:latin typeface="Calibri"/>
              </a:defRPr>
            </a:pPr>
            <a:r>
              <a:t>1,000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92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AAC3E6"/>
                </a:solidFill>
                <a:latin typeface="Calibri"/>
              </a:defRPr>
            </a:pPr>
            <a:r>
              <a:t>Transacciones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3749039"/>
            <a:ext cx="3291840" cy="20116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3749039"/>
            <a:ext cx="3291840" cy="64008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39319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D4941A"/>
                </a:solidFill>
                <a:latin typeface="Calibri"/>
              </a:defRPr>
            </a:pPr>
            <a:r>
              <a:t>$322.9K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4892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AAC3E6"/>
                </a:solidFill>
                <a:latin typeface="Calibri"/>
              </a:defRPr>
            </a:pPr>
            <a:r>
              <a:t>Ventas totales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3749039"/>
            <a:ext cx="3291840" cy="20116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3749039"/>
            <a:ext cx="3291840" cy="64008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39319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D4941A"/>
                </a:solidFill>
                <a:latin typeface="Calibri"/>
              </a:defRPr>
            </a:pPr>
            <a:r>
              <a:t>$323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892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AAC3E6"/>
                </a:solidFill>
                <a:latin typeface="Calibri"/>
              </a:defRPr>
            </a:pPr>
            <a:r>
              <a:t>Ticket promedio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E7A8C"/>
                </a:solidFill>
                <a:latin typeface="Calibri"/>
              </a:defRPr>
            </a:pPr>
            <a:r>
              <a:t>Cliente: Cadena de Supermercados  |  3 sucursales  |  Enero – Marzo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22C4D"/>
                </a:solidFill>
                <a:latin typeface="Calibri"/>
              </a:defRPr>
            </a:pPr>
            <a:r>
              <a:t>Contexto del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1">
                <a:solidFill>
                  <a:srgbClr val="6E7A8C"/>
                </a:solidFill>
                <a:latin typeface="Calibri"/>
              </a:defRPr>
            </a:pPr>
            <a:r>
              <a:t>Tres ciudades con perfiles de consumidor muy distintos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36576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C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3657600" cy="685800"/>
          </a:xfrm>
          <a:prstGeom prst="rect">
            <a:avLst/>
          </a:prstGeom>
          <a:solidFill>
            <a:srgbClr val="12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640080" cy="6858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Yangon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941A"/>
                </a:solidFill>
                <a:latin typeface="Calibri"/>
              </a:defRPr>
            </a:pPr>
            <a:r>
              <a:t>Capital comercial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E7A8C"/>
                </a:solidFill>
                <a:latin typeface="Calibri"/>
              </a:defRPr>
            </a:pPr>
            <a:r>
              <a:t>5.9M hab.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1A2E"/>
                </a:solidFill>
                <a:latin typeface="Calibri"/>
              </a:defRPr>
            </a:pPr>
            <a:r>
              <a:t>340 transacciones</a:t>
            </a:r>
          </a:p>
          <a:p>
            <a:pPr>
              <a:defRPr sz="1200" b="0">
                <a:solidFill>
                  <a:srgbClr val="1A1A2E"/>
                </a:solidFill>
                <a:latin typeface="Calibri"/>
              </a:defRPr>
            </a:pPr>
            <a:r>
              <a:t>Ticket prom: $312</a:t>
            </a:r>
          </a:p>
          <a:p>
            <a:pPr>
              <a:defRPr sz="1200" b="0">
                <a:solidFill>
                  <a:srgbClr val="1A1A2E"/>
                </a:solidFill>
                <a:latin typeface="Calibri"/>
              </a:defRPr>
            </a:pPr>
            <a:r>
              <a:t>Rating: 7.0</a:t>
            </a:r>
          </a:p>
          <a:p>
            <a:pPr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>
              <a:defRPr sz="1200" b="0">
                <a:solidFill>
                  <a:srgbClr val="1A1A2E"/>
                </a:solidFill>
                <a:latin typeface="Calibri"/>
              </a:defRPr>
            </a:pPr>
            <a:r>
              <a:t>La ciudad más cosmopolita del país. Mayor volumen de transacciones pero ticket promedio más bajo. El consumidor es el más diverso.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91640"/>
            <a:ext cx="36576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C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691640"/>
            <a:ext cx="3657600" cy="685800"/>
          </a:xfrm>
          <a:prstGeom prst="rect">
            <a:avLst/>
          </a:prstGeom>
          <a:solidFill>
            <a:srgbClr val="12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691640"/>
            <a:ext cx="640080" cy="6858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71907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Mandalay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423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941A"/>
                </a:solidFill>
                <a:latin typeface="Calibri"/>
              </a:defRPr>
            </a:pPr>
            <a:r>
              <a:t>Centro cultural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743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E7A8C"/>
                </a:solidFill>
                <a:latin typeface="Calibri"/>
              </a:defRPr>
            </a:pPr>
            <a:r>
              <a:t>1.6M hab.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0632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1A2E"/>
                </a:solidFill>
                <a:latin typeface="Calibri"/>
              </a:defRPr>
            </a:pPr>
            <a:r>
              <a:t>332 transacciones</a:t>
            </a:r>
          </a:p>
          <a:p>
            <a:pPr>
              <a:defRPr sz="1200" b="0">
                <a:solidFill>
                  <a:srgbClr val="1A1A2E"/>
                </a:solidFill>
                <a:latin typeface="Calibri"/>
              </a:defRPr>
            </a:pPr>
            <a:r>
              <a:t>Ticket prom: $320</a:t>
            </a:r>
          </a:p>
          <a:p>
            <a:pPr>
              <a:defRPr sz="1200" b="0">
                <a:solidFill>
                  <a:srgbClr val="1A1A2E"/>
                </a:solidFill>
                <a:latin typeface="Calibri"/>
              </a:defRPr>
            </a:pPr>
            <a:r>
              <a:t>Rating: 6.8</a:t>
            </a:r>
          </a:p>
          <a:p>
            <a:pPr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>
              <a:defRPr sz="1200" b="0">
                <a:solidFill>
                  <a:srgbClr val="1A1A2E"/>
                </a:solidFill>
                <a:latin typeface="Calibri"/>
              </a:defRPr>
            </a:pPr>
            <a:r>
              <a:t>Hub religioso y cultural. Lidera en Health &amp; Beauty y Sports &amp; Travel. Tiene el menor índice de satisfacción.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1691640"/>
            <a:ext cx="36576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C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20" y="1691640"/>
            <a:ext cx="3657600" cy="685800"/>
          </a:xfrm>
          <a:prstGeom prst="rect">
            <a:avLst/>
          </a:prstGeom>
          <a:solidFill>
            <a:srgbClr val="12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20" y="1691640"/>
            <a:ext cx="640080" cy="6858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71907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Naypyitaw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423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4941A"/>
                </a:solidFill>
                <a:latin typeface="Calibri"/>
              </a:defRPr>
            </a:pPr>
            <a:r>
              <a:t>Capital política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743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E7A8C"/>
                </a:solidFill>
                <a:latin typeface="Calibri"/>
              </a:defRPr>
            </a:pPr>
            <a:r>
              <a:t>815K hab.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0632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1A2E"/>
                </a:solidFill>
                <a:latin typeface="Calibri"/>
              </a:defRPr>
            </a:pPr>
            <a:r>
              <a:t>328 transacciones</a:t>
            </a:r>
          </a:p>
          <a:p>
            <a:pPr>
              <a:defRPr sz="1200" b="0">
                <a:solidFill>
                  <a:srgbClr val="1A1A2E"/>
                </a:solidFill>
                <a:latin typeface="Calibri"/>
              </a:defRPr>
            </a:pPr>
            <a:r>
              <a:t>Ticket prom: $337</a:t>
            </a:r>
          </a:p>
          <a:p>
            <a:pPr>
              <a:defRPr sz="1200" b="0">
                <a:solidFill>
                  <a:srgbClr val="1A1A2E"/>
                </a:solidFill>
                <a:latin typeface="Calibri"/>
              </a:defRPr>
            </a:pPr>
            <a:r>
              <a:t>Rating: 7.1</a:t>
            </a:r>
          </a:p>
          <a:p>
            <a:pPr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>
              <a:defRPr sz="1200" b="0">
                <a:solidFill>
                  <a:srgbClr val="1A1A2E"/>
                </a:solidFill>
                <a:latin typeface="Calibri"/>
              </a:defRPr>
            </a:pPr>
            <a:r>
              <a:t>La ciudad más pequeña pero la de mayor ticket. Los funcionarios del gobierno tienen ingresos estables.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E7A8C"/>
                </a:solidFill>
                <a:latin typeface="Calibri"/>
              </a:defRPr>
            </a:pPr>
            <a:r>
              <a:t>Desafío 3  ·  Supermarket Sales  ·  Myanmar 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2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7802575" cy="73152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D4941A"/>
                </a:solidFill>
                <a:latin typeface="Calibri"/>
              </a:defRPr>
            </a:pPr>
            <a:r>
              <a:t>ANÁLISIS DE GÉNERO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402335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i="0">
                <a:solidFill>
                  <a:srgbClr val="D4941A"/>
                </a:solidFill>
                <a:latin typeface="Calibri"/>
              </a:defRPr>
            </a:pPr>
            <a:r>
              <a:t>8% más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94560"/>
            <a:ext cx="3200400" cy="4572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331720"/>
            <a:ext cx="39776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Las mujeres gastan más por visita. Los hombres dominan un nicho clave.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840480"/>
            <a:ext cx="39776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Ticket promedio:</a:t>
            </a: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Mujeres: $335 · Hombres: $311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Las mujeres generan el 52% de las ventas ($167.8K vs $155K).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El dato más relevante: en Health &amp; Beauty, los hombres gastan un 65% más que las mujeres.</a:t>
            </a: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Una oportunidad casi sin explotar.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01168"/>
            <a:ext cx="72539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E7A8C"/>
                </a:solidFill>
                <a:latin typeface="Calibri"/>
              </a:defRPr>
            </a:pPr>
            <a:r>
              <a:t>¿Cómo se comparan las compras de mujeres vs hombres?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777240"/>
            <a:ext cx="7253935" cy="5394960"/>
          </a:xfrm>
          <a:prstGeom prst="roundRect">
            <a:avLst/>
          </a:prstGeom>
          <a:solidFill>
            <a:srgbClr val="EEF3FA"/>
          </a:solidFill>
          <a:ln w="19050">
            <a:solidFill>
              <a:srgbClr val="AAC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i="1">
                <a:solidFill>
                  <a:srgbClr val="6E7A8C"/>
                </a:solidFill>
                <a:latin typeface="Calibri"/>
              </a:defRPr>
            </a:pPr>
            <a:r>
              <a:t>Insertar gráfico: Ventas totales y ticket promedio por género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E7A8C"/>
                </a:solidFill>
                <a:latin typeface="Calibri"/>
              </a:defRPr>
            </a:pPr>
            <a:r>
              <a:t>Desafío 3  ·  Supermarket Sales  ·  Myanmar 2019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2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7802575" cy="73152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D4941A"/>
                </a:solidFill>
                <a:latin typeface="Calibri"/>
              </a:defRPr>
            </a:pPr>
            <a:r>
              <a:t>DISTRIBUCIÓN HORARIA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402335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i="0">
                <a:solidFill>
                  <a:srgbClr val="D4941A"/>
                </a:solidFill>
                <a:latin typeface="Calibri"/>
              </a:defRPr>
            </a:pPr>
            <a:r>
              <a:t>19:00 hs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94560"/>
            <a:ext cx="3200400" cy="4572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331720"/>
            <a:ext cx="39776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El pico de la tarde-noche domina. Dos momentos concentran el tráfico.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840480"/>
            <a:ext cx="39776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Pico 1 — 13:00 hs: $34.7K, 103 transacciones.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Pico 2 — 19:00 hs: $39.7K, 113 transacciones.</a:t>
            </a: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(momento de mayor volumen absoluto)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Horas valle: 16h, 17h y 20h están por debajo del promedio horario ($29.4K).</a:t>
            </a: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Ahí hay margen para generar tráfico con ofertas dirigidas.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01168"/>
            <a:ext cx="72539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E7A8C"/>
                </a:solidFill>
                <a:latin typeface="Calibri"/>
              </a:defRPr>
            </a:pPr>
            <a:r>
              <a:t>¿En qué momentos del día se concentran las ventas?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777240"/>
            <a:ext cx="7253935" cy="5394960"/>
          </a:xfrm>
          <a:prstGeom prst="roundRect">
            <a:avLst/>
          </a:prstGeom>
          <a:solidFill>
            <a:srgbClr val="EEF3FA"/>
          </a:solidFill>
          <a:ln w="19050">
            <a:solidFill>
              <a:srgbClr val="AAC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i="1">
                <a:solidFill>
                  <a:srgbClr val="6E7A8C"/>
                </a:solidFill>
                <a:latin typeface="Calibri"/>
              </a:defRPr>
            </a:pPr>
            <a:r>
              <a:t>Insertar gráfico: Ventas y transacciones por hora (10h a 20h)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E7A8C"/>
                </a:solidFill>
                <a:latin typeface="Calibri"/>
              </a:defRPr>
            </a:pPr>
            <a:r>
              <a:t>Desafío 3  ·  Supermarket Sales  ·  Myanmar 2019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2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7802575" cy="73152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D4941A"/>
                </a:solidFill>
                <a:latin typeface="Calibri"/>
              </a:defRPr>
            </a:pPr>
            <a:r>
              <a:t>PORTAFOLIO DE PRODUCTOS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402335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i="0">
                <a:solidFill>
                  <a:srgbClr val="D4941A"/>
                </a:solidFill>
                <a:latin typeface="Calibri"/>
              </a:defRPr>
            </a:pPr>
            <a:r>
              <a:t>$56.1K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94560"/>
            <a:ext cx="3200400" cy="4572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331720"/>
            <a:ext cx="39776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Los ingresos están distribuidos. Food &amp; Beverages lidera.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840480"/>
            <a:ext cx="39776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Food &amp; Beverages:     $56.1K  (1°)</a:t>
            </a: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Sports &amp; Travel:        $55.1K  (2°)</a:t>
            </a: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Electronic Acc.:         $54.3K  (3°)</a:t>
            </a: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Fashion Acc.:             $54.3K  (4°)</a:t>
            </a: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Home &amp; Lifestyle:     $53.9K  (5°)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Health &amp; Beauty:      $49.1K  (último)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Fashion tiene la mayor cant. de transacciones (178) pero ticket más bajo.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01168"/>
            <a:ext cx="72539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E7A8C"/>
                </a:solidFill>
                <a:latin typeface="Calibri"/>
              </a:defRPr>
            </a:pPr>
            <a:r>
              <a:t>¿Qué categorías generan más ingresos?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777240"/>
            <a:ext cx="7253935" cy="5394960"/>
          </a:xfrm>
          <a:prstGeom prst="roundRect">
            <a:avLst/>
          </a:prstGeom>
          <a:solidFill>
            <a:srgbClr val="EEF3FA"/>
          </a:solidFill>
          <a:ln w="19050">
            <a:solidFill>
              <a:srgbClr val="AAC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i="1">
                <a:solidFill>
                  <a:srgbClr val="6E7A8C"/>
                </a:solidFill>
                <a:latin typeface="Calibri"/>
              </a:defRPr>
            </a:pPr>
            <a:r>
              <a:t>Insertar gráfico: Ingresos por línea de producto (barras horizontales)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E7A8C"/>
                </a:solidFill>
                <a:latin typeface="Calibri"/>
              </a:defRPr>
            </a:pPr>
            <a:r>
              <a:t>Desafío 3  ·  Supermarket Sales  ·  Myanmar 2019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2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7802575" cy="73152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D4941A"/>
                </a:solidFill>
                <a:latin typeface="Calibri"/>
              </a:defRPr>
            </a:pPr>
            <a:r>
              <a:t>PRODUCTO POR GÉNERO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402335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i="0">
                <a:solidFill>
                  <a:srgbClr val="D4941A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94560"/>
            <a:ext cx="3200400" cy="4572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331720"/>
            <a:ext cx="39776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Cada categoría tiene un perfil de cliente distinto. El género importa.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840480"/>
            <a:ext cx="39776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Health &amp; Beauty → Hombres 62.3% / Mujeres 37.7%</a:t>
            </a: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Food &amp; Beverages → Mujeres 59.1% / Hombres 40.9%</a:t>
            </a: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Fashion Acc. → Mujeres 56% / Hombres 44%</a:t>
            </a: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Home &amp; Lifestyle → Mujeres 55.8% / Hombres 44.2%</a:t>
            </a: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Sports &amp; Travel → Casi igualado (52% / 48%)</a:t>
            </a: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Electronic Acc. → Igualado (50% / 50%)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La brecha más grande: Health &amp; Beauty (24.5 puntos).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01168"/>
            <a:ext cx="72539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E7A8C"/>
                </a:solidFill>
                <a:latin typeface="Calibri"/>
              </a:defRPr>
            </a:pPr>
            <a:r>
              <a:t>¿Qué compra cada género por línea de producto?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777240"/>
            <a:ext cx="7253935" cy="5394960"/>
          </a:xfrm>
          <a:prstGeom prst="roundRect">
            <a:avLst/>
          </a:prstGeom>
          <a:solidFill>
            <a:srgbClr val="EEF3FA"/>
          </a:solidFill>
          <a:ln w="19050">
            <a:solidFill>
              <a:srgbClr val="AAC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i="1">
                <a:solidFill>
                  <a:srgbClr val="6E7A8C"/>
                </a:solidFill>
                <a:latin typeface="Calibri"/>
              </a:defRPr>
            </a:pPr>
            <a:r>
              <a:t>Insertar gráfico: % por género en cada línea de producto (barras 100% apiladas)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E7A8C"/>
                </a:solidFill>
                <a:latin typeface="Calibri"/>
              </a:defRPr>
            </a:pPr>
            <a:r>
              <a:t>Desafío 3  ·  Supermarket Sales  ·  Myanmar 2019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2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7802575" cy="73152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D4941A"/>
                </a:solidFill>
                <a:latin typeface="Calibri"/>
              </a:defRPr>
            </a:pPr>
            <a:r>
              <a:t>PERFORMANCE POR SUCURSAL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402335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i="0">
                <a:solidFill>
                  <a:srgbClr val="D4941A"/>
                </a:solidFill>
                <a:latin typeface="Calibri"/>
              </a:defRPr>
            </a:pPr>
            <a:r>
              <a:t>Suc. 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94560"/>
            <a:ext cx="3200400" cy="4572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331720"/>
            <a:ext cx="39776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Naypyitaw lidera en ventas y satisfacción. Yangon tiene más volumen.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840480"/>
            <a:ext cx="39776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C (Naypyitaw): $110.6K · ticket $337 · rating 7.1</a:t>
            </a: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A (Yangon):      $106.2K · ticket $312 · rating 7.0</a:t>
            </a: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B (Mandalay):  $106.2K · ticket $320 · rating 6.8</a:t>
            </a:r>
          </a:p>
          <a:p>
            <a:pPr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Naypyitaw factura más con menos transacciones.</a:t>
            </a: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Yangon tiene el mayor volumen pero el menor ticket.</a:t>
            </a:r>
          </a:p>
          <a:p>
            <a:pPr>
              <a:defRPr sz="1400" b="0">
                <a:solidFill>
                  <a:srgbClr val="FFFFFF"/>
                </a:solidFill>
                <a:latin typeface="Calibri"/>
              </a:defRPr>
            </a:pPr>
            <a:r>
              <a:t>Mandalay tiene el menor índice de satisfacción: oportunidad de mejora.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01168"/>
            <a:ext cx="72539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E7A8C"/>
                </a:solidFill>
                <a:latin typeface="Calibri"/>
              </a:defRPr>
            </a:pPr>
            <a:r>
              <a:t>¿Cómo se desempeña cada sucursal?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777240"/>
            <a:ext cx="7253935" cy="5394960"/>
          </a:xfrm>
          <a:prstGeom prst="roundRect">
            <a:avLst/>
          </a:prstGeom>
          <a:solidFill>
            <a:srgbClr val="EEF3FA"/>
          </a:solidFill>
          <a:ln w="19050">
            <a:solidFill>
              <a:srgbClr val="AAC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i="1">
                <a:solidFill>
                  <a:srgbClr val="6E7A8C"/>
                </a:solidFill>
                <a:latin typeface="Calibri"/>
              </a:defRPr>
            </a:pPr>
            <a:r>
              <a:t>Insertar gráfico: Ventas y transacciones por sucursal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E7A8C"/>
                </a:solidFill>
                <a:latin typeface="Calibri"/>
              </a:defRPr>
            </a:pPr>
            <a:r>
              <a:t>Desafío 3  ·  Supermarket Sales  ·  Myanmar 2019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22C4D"/>
                </a:solidFill>
                <a:latin typeface="Calibri"/>
              </a:defRPr>
            </a:pPr>
            <a:r>
              <a:t>Propuesta de Campañas de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1">
                <a:solidFill>
                  <a:srgbClr val="6E7A8C"/>
                </a:solidFill>
                <a:latin typeface="Calibri"/>
              </a:defRPr>
            </a:pPr>
            <a:r>
              <a:t>Una acción por mes, fundamentada en los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36576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C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3657600" cy="822960"/>
          </a:xfrm>
          <a:prstGeom prst="rect">
            <a:avLst/>
          </a:prstGeom>
          <a:solidFill>
            <a:srgbClr val="12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MES 1 · ENERO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Sabores</a:t>
            </a:r>
            <a:br/>
            <a:r>
              <a:t>y Familia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1A2E"/>
                </a:solidFill>
                <a:latin typeface="Calibri"/>
              </a:defRPr>
            </a:pPr>
            <a:r>
              <a:t>Foco: Food &amp; Beverages</a:t>
            </a:r>
          </a:p>
          <a:p>
            <a:pPr>
              <a:defRPr sz="1200" b="0">
                <a:solidFill>
                  <a:srgbClr val="1A1A2E"/>
                </a:solidFill>
                <a:latin typeface="Calibri"/>
              </a:defRPr>
            </a:pPr>
            <a:r>
              <a:t>Target: Mujeres, Naypyitaw y Yangon</a:t>
            </a:r>
          </a:p>
          <a:p>
            <a:pPr>
              <a:defRPr sz="1200" b="0">
                <a:solidFill>
                  <a:srgbClr val="1A1A2E"/>
                </a:solidFill>
                <a:latin typeface="Calibri"/>
              </a:defRPr>
            </a:pPr>
            <a:r>
              <a:t>Táctica: Degustaciones y combos familiares en los picos de 13h y 19h.</a:t>
            </a:r>
          </a:p>
          <a:p>
            <a:pPr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>
              <a:defRPr sz="1200" b="0">
                <a:solidFill>
                  <a:srgbClr val="1A1A2E"/>
                </a:solidFill>
                <a:latin typeface="Calibri"/>
              </a:defRPr>
            </a:pPr>
            <a:r>
              <a:t>Enero es el mejor mes ($116K). Las mujeres dominan esta categoría (+44%). Naypyitaw lidera en enero.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36576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C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00200"/>
            <a:ext cx="3657600" cy="822960"/>
          </a:xfrm>
          <a:prstGeom prst="rect">
            <a:avLst/>
          </a:prstGeom>
          <a:solidFill>
            <a:srgbClr val="1E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459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MES 2 · FEBRERO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65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Bienestar</a:t>
            </a:r>
            <a:br/>
            <a:r>
              <a:t>para Él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1460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1A2E"/>
                </a:solidFill>
                <a:latin typeface="Calibri"/>
              </a:defRPr>
            </a:pPr>
            <a:r>
              <a:t>Foco: Health &amp; Beauty</a:t>
            </a:r>
          </a:p>
          <a:p>
            <a:pPr>
              <a:defRPr sz="1200" b="0">
                <a:solidFill>
                  <a:srgbClr val="1A1A2E"/>
                </a:solidFill>
                <a:latin typeface="Calibri"/>
              </a:defRPr>
            </a:pPr>
            <a:r>
              <a:t>Target: Hombres, Mandalay</a:t>
            </a:r>
          </a:p>
          <a:p>
            <a:pPr>
              <a:defRPr sz="1200" b="0">
                <a:solidFill>
                  <a:srgbClr val="1A1A2E"/>
                </a:solidFill>
                <a:latin typeface="Calibri"/>
              </a:defRPr>
            </a:pPr>
            <a:r>
              <a:t>Táctica: Comunicación y descuentos pensados para hombres. Reforzar la sucursal B.</a:t>
            </a:r>
          </a:p>
          <a:p>
            <a:pPr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>
              <a:defRPr sz="1200" b="0">
                <a:solidFill>
                  <a:srgbClr val="1A1A2E"/>
                </a:solidFill>
                <a:latin typeface="Calibri"/>
              </a:defRPr>
            </a:pPr>
            <a:r>
              <a:t>Febrero es el mes más bajo ($97K). La brecha masculina en Health &amp; Beauty es la mayor del dataset: 65%.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600200"/>
            <a:ext cx="36576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AAC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1600200"/>
            <a:ext cx="3657600" cy="82296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22C4D"/>
                </a:solidFill>
                <a:latin typeface="Calibri"/>
              </a:defRPr>
            </a:pPr>
            <a:r>
              <a:t>MES 3 · MARZO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65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22C4D"/>
                </a:solidFill>
                <a:latin typeface="Calibri"/>
              </a:defRPr>
            </a:pPr>
            <a:r>
              <a:t>Hogar</a:t>
            </a:r>
            <a:br/>
            <a:r>
              <a:t>y Estilo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514600"/>
            <a:ext cx="3383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1A2E"/>
                </a:solidFill>
                <a:latin typeface="Calibri"/>
              </a:defRPr>
            </a:pPr>
            <a:r>
              <a:t>Foco: Home &amp; Lifestyle + Sports &amp; Travel</a:t>
            </a:r>
          </a:p>
          <a:p>
            <a:pPr>
              <a:defRPr sz="1200" b="0">
                <a:solidFill>
                  <a:srgbClr val="1A1A2E"/>
                </a:solidFill>
                <a:latin typeface="Calibri"/>
              </a:defRPr>
            </a:pPr>
            <a:r>
              <a:t>Target: Público general, Yangon</a:t>
            </a:r>
          </a:p>
          <a:p>
            <a:pPr>
              <a:defRPr sz="1200" b="0">
                <a:solidFill>
                  <a:srgbClr val="1A1A2E"/>
                </a:solidFill>
                <a:latin typeface="Calibri"/>
              </a:defRPr>
            </a:pPr>
            <a:r>
              <a:t>Táctica: Combos cruzados hogar + deporte. Yangon domina esta categoría.</a:t>
            </a:r>
          </a:p>
          <a:p>
            <a:pPr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>
              <a:defRPr sz="1200" b="0">
                <a:solidFill>
                  <a:srgbClr val="1A1A2E"/>
                </a:solidFill>
                <a:latin typeface="Calibri"/>
              </a:defRPr>
            </a:pPr>
            <a:r>
              <a:t>Marzo se recupera ($109K) y antecede al Año Nuevo birmano (abril), cuando las familias renuevan el hogar.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E7A8C"/>
                </a:solidFill>
                <a:latin typeface="Calibri"/>
              </a:defRPr>
            </a:pPr>
            <a:r>
              <a:t>Desafío 3  ·  Supermarket Sales  ·  Myanmar 2019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C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D4941A"/>
                </a:solidFill>
                <a:latin typeface="Calibri"/>
              </a:defRPr>
            </a:pPr>
            <a: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Los datos hablan claro.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4572000" cy="64008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487168"/>
            <a:ext cx="228600" cy="2286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La distribución entre géneros y sucursales es equilibrada, pero con brechas accionables.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172968"/>
            <a:ext cx="228600" cy="2286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Health &amp; Beauty es el producto con mayor oportunidad: los hombres gastan 65% más que las mujeres.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58768"/>
            <a:ext cx="228600" cy="2286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749039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Los picos de 13h y 19h deben ser el eje de cualquier activación en sucursal.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544568"/>
            <a:ext cx="228600" cy="2286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Naypyitaw es la sucursal más eficiente: factura más con menos transacciones.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230368"/>
            <a:ext cx="228600" cy="228600"/>
          </a:xfrm>
          <a:prstGeom prst="rect">
            <a:avLst/>
          </a:prstGeom>
          <a:solidFill>
            <a:srgbClr val="D4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06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Febrero es el mes más débil. Una campaña focalizada puede revertirlo.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6E7A8C"/>
                </a:solidFill>
                <a:latin typeface="Calibri"/>
              </a:defRPr>
            </a:pPr>
            <a:r>
              <a:t>Desafío 3  ·  Supermarket Sales  ·  Myanmar 2019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