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B579A"/>
                </a:solidFill>
                <a:latin typeface="Calibri"/>
              </a:defRPr>
            </a:pPr>
            <a:r>
              <a:t>Supermarket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C757D"/>
                </a:solidFill>
                <a:latin typeface="Calibri"/>
              </a:defRPr>
            </a:pPr>
            <a:r>
              <a:t>Hallazgos de datos y estrategia para campañas de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B579A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94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  <a:latin typeface="Calibri"/>
              </a:defRPr>
            </a:pPr>
            <a:r>
              <a:t>Transacciones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8304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B579A"/>
                </a:solidFill>
                <a:latin typeface="Calibri"/>
              </a:defRPr>
            </a:pPr>
            <a:r>
              <a:t>$322.9K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8304" y="5394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  <a:latin typeface="Calibri"/>
              </a:defRPr>
            </a:pPr>
            <a:r>
              <a:t>Ventas Totales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B579A"/>
                </a:solidFill>
                <a:latin typeface="Calibri"/>
              </a:defRPr>
            </a:pPr>
            <a:r>
              <a:t>$323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394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  <a:latin typeface="Calibri"/>
              </a:defRPr>
            </a:pPr>
            <a:r>
              <a:t>Ticket Promedio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B579A"/>
                </a:solidFill>
                <a:latin typeface="Calibri"/>
              </a:defRPr>
            </a:pPr>
            <a:r>
              <a:t>Contexto del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757D"/>
                </a:solidFill>
                <a:latin typeface="Calibri"/>
              </a:defRPr>
            </a:pPr>
            <a:r>
              <a:t>3 sucursales, 3 perfiles de ciudades distintas en Myanmar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Calibri"/>
              </a:defRPr>
            </a:pPr>
            <a:r>
              <a:t>Yangon (Sucursal 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• Capital comercial</a:t>
            </a:r>
            <a:br/>
            <a:r>
              <a:t>• 340 transacciones</a:t>
            </a:r>
            <a:br/>
            <a:r>
              <a:t>• Competitivo, ticket 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Calibri"/>
              </a:defRPr>
            </a:pPr>
            <a:r>
              <a:t>Mandalay (Sucursal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• Centro cultural</a:t>
            </a:r>
            <a:br/>
            <a:r>
              <a:t>• 332 transacciones</a:t>
            </a:r>
            <a:br/>
            <a:r>
              <a:t>• Foco en bienestar y salud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Calibri"/>
              </a:defRPr>
            </a:pPr>
            <a:r>
              <a:t>Naypyitaw (Sucursal 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• Capital política</a:t>
            </a:r>
            <a:br/>
            <a:r>
              <a:t>• 328 transacciones</a:t>
            </a:r>
            <a:br/>
            <a:r>
              <a:t>• Menos volumen, ticket más alto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Insight clave: El objetivo es maximizar ingresos diseñando 3 campañas mensuales adaptadas al consumo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B579A"/>
                </a:solidFill>
                <a:latin typeface="Calibri"/>
              </a:defRPr>
            </a:pPr>
            <a:r>
              <a:t>Comportamiento por Género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757D"/>
                </a:solidFill>
                <a:latin typeface="Calibri"/>
              </a:defRPr>
            </a:pPr>
            <a:r>
              <a:t>Las mujeres generan mayor valor, pero los hombres dominan nichos específicos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65100"/>
                </a:solidFill>
                <a:latin typeface="Calibri"/>
              </a:defRPr>
            </a:pPr>
            <a:r>
              <a:t>$335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  <a:latin typeface="Calibri"/>
              </a:defRPr>
            </a:pPr>
            <a:r>
              <a:t>Ticket Promedio Mujeres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B579A"/>
                </a:solidFill>
                <a:latin typeface="Calibri"/>
              </a:defRPr>
            </a:pPr>
            <a:r>
              <a:t>$311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  <a:latin typeface="Calibri"/>
              </a:defRPr>
            </a:pPr>
            <a:r>
              <a:t>Ticket Promedio Hombres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12529"/>
                </a:solidFill>
                <a:latin typeface="Calibri"/>
              </a:defRPr>
            </a:pPr>
            <a:r>
              <a:t>• Las mujeres representan el 52% de las ventas totales ($167.8K vs $155K).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12529"/>
                </a:solidFill>
                <a:latin typeface="Calibri"/>
              </a:defRPr>
            </a:pPr>
            <a:r>
              <a:t>• Sin embargo, en la categoría 'Health &amp; Beauty', los hombres gastan un 65% más que las mujeres.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Insight clave: Oportunidad para romper estereotipos: promocionar productos de cuidado personal dirigidos a hombres.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B579A"/>
                </a:solidFill>
                <a:latin typeface="Calibri"/>
              </a:defRPr>
            </a:pPr>
            <a:r>
              <a:t>El ritmo de las ventas diarias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757D"/>
                </a:solidFill>
                <a:latin typeface="Calibri"/>
              </a:defRPr>
            </a:pPr>
            <a:r>
              <a:t>Dos momentos clave concentran el tráfico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79A"/>
                </a:solidFill>
                <a:latin typeface="Calibri"/>
              </a:defRPr>
            </a:pPr>
            <a:r>
              <a:t>Pico del Almuerzo (13:00 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Primer momento de alto tráfico del día. Ideal para compras rápidas de alimentos y bebidas.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65100"/>
                </a:solidFill>
                <a:latin typeface="Calibri"/>
              </a:defRPr>
            </a:pPr>
            <a:r>
              <a:t>Pico Post-Trabajo (19:00 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834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El momento de mayor volumen de ventas absoluto. Compras más grandes y planificadas.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C757D"/>
                </a:solidFill>
                <a:latin typeface="Calibri"/>
              </a:defRPr>
            </a:pPr>
            <a:r>
              <a:t>Horas valle: 16:00, 17:00 y 20:00. Necesitan incentivos de tráfico.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Insight clave: Programar activaciones en sucursal y ofertas relámpago durante los picos de las 13h y 19h.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B579A"/>
                </a:solidFill>
                <a:latin typeface="Calibri"/>
              </a:defRPr>
            </a:pPr>
            <a:r>
              <a:t>Desempeño del Portafolio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757D"/>
                </a:solidFill>
                <a:latin typeface="Calibri"/>
              </a:defRPr>
            </a:pPr>
            <a:r>
              <a:t>Alimentos lidera los ingresos; Fidelización aumenta el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Calibri"/>
              </a:defRPr>
            </a:pPr>
            <a:r>
              <a:t>Categoría Estrella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Food &amp; Beverages</a:t>
            </a:r>
            <a:br/>
            <a:r>
              <a:t>$56.1K Ventas</a:t>
            </a:r>
            <a:br/>
            <a:r>
              <a:t>Liderada por mujeres y por la sucursal de Naypyitaw.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Calibri"/>
              </a:defRPr>
            </a:pPr>
            <a:r>
              <a:t>Categoría a Reforzar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743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Health &amp; Beauty</a:t>
            </a:r>
            <a:br/>
            <a:r>
              <a:t>$49.1K Ventas</a:t>
            </a:r>
            <a:br/>
            <a:r>
              <a:t>Menos transacciones generales, pero ticket alto en hombres.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A"/>
                </a:solidFill>
                <a:latin typeface="Calibri"/>
              </a:defRPr>
            </a:pPr>
            <a:r>
              <a:t>El rol de la Membresía: Los clientes 'Member' tienen un ticket promedio $9.67 más alto que los 'Normal'.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Insight clave: Usar las categorías líderes como gancho para vender las más débiles mediante promociones cruzadas.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B579A"/>
                </a:solidFill>
                <a:latin typeface="Calibri"/>
              </a:defRPr>
            </a:pPr>
            <a:r>
              <a:t>Propuesta: 3 Campañas, 3 Meses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757D"/>
                </a:solidFill>
                <a:latin typeface="Calibri"/>
              </a:defRPr>
            </a:pPr>
            <a:r>
              <a:t>Acciones accionables basadas en la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5100"/>
                </a:solidFill>
                <a:latin typeface="Calibri"/>
              </a:defRPr>
            </a:pPr>
            <a:r>
              <a:t>Mes 1: 'Sabores y Familia'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Foco: Food &amp; Beverages</a:t>
            </a:r>
            <a:br/>
            <a:r>
              <a:t>Target: Mujeres en Naypyitaw</a:t>
            </a:r>
            <a:br/>
            <a:r>
              <a:t>Táctica: Degustaciones a las 13h y 19h para impulsar el mes de más ventas.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B579A"/>
                </a:solidFill>
                <a:latin typeface="Calibri"/>
              </a:defRPr>
            </a:pPr>
            <a:r>
              <a:t>Mes 2: 'Bienestar para Él'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Foco: Health &amp; Beauty</a:t>
            </a:r>
            <a:br/>
            <a:r>
              <a:t>Target: Hombres en Mandalay</a:t>
            </a:r>
            <a:br/>
            <a:r>
              <a:t>Táctica: Aprovechar el nicho masculino para levantar febrero (mes más bajo).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5100"/>
                </a:solidFill>
                <a:latin typeface="Calibri"/>
              </a:defRPr>
            </a:pPr>
            <a:r>
              <a:t>Mes 3: 'Tu Casa a tu Estilo'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  <a:latin typeface="Calibri"/>
              </a:defRPr>
            </a:pPr>
            <a:r>
              <a:t>Foco: Home &amp; Lifestyle</a:t>
            </a:r>
            <a:br/>
            <a:r>
              <a:t>Target: Público general en Yangon</a:t>
            </a:r>
            <a:br/>
            <a:r>
              <a:t>Táctica: Descuentos cruzados con Sports &amp; Travel para liquidar stock en marzo.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Insight clave: Data al servicio de la acción: no le hablamos a todos por igual, segmentamos la oferta.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